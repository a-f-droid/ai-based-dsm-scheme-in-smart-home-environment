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267" r:id="rId3"/>
    <p:sldId id="278" r:id="rId4"/>
    <p:sldId id="283" r:id="rId5"/>
    <p:sldId id="284" r:id="rId6"/>
    <p:sldId id="305" r:id="rId7"/>
    <p:sldId id="295" r:id="rId8"/>
    <p:sldId id="297" r:id="rId9"/>
    <p:sldId id="294" r:id="rId10"/>
    <p:sldId id="306" r:id="rId11"/>
    <p:sldId id="310" r:id="rId12"/>
    <p:sldId id="307" r:id="rId13"/>
    <p:sldId id="311" r:id="rId14"/>
    <p:sldId id="308" r:id="rId15"/>
    <p:sldId id="312" r:id="rId16"/>
    <p:sldId id="309" r:id="rId17"/>
    <p:sldId id="314" r:id="rId18"/>
    <p:sldId id="313" r:id="rId19"/>
    <p:sldId id="316" r:id="rId20"/>
    <p:sldId id="318" r:id="rId21"/>
    <p:sldId id="317" r:id="rId22"/>
    <p:sldId id="299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7" r:id="rId31"/>
    <p:sldId id="304" r:id="rId3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959"/>
    <a:srgbClr val="0033CC"/>
    <a:srgbClr val="FF3300"/>
    <a:srgbClr val="D48AD0"/>
    <a:srgbClr val="F86E06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457" autoAdjust="0"/>
  </p:normalViewPr>
  <p:slideViewPr>
    <p:cSldViewPr snapToGrid="0">
      <p:cViewPr varScale="1">
        <p:scale>
          <a:sx n="82" d="100"/>
          <a:sy n="82" d="100"/>
        </p:scale>
        <p:origin x="44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4C555-62E7-4200-A0C1-3D8702DC774B}" type="datetimeFigureOut">
              <a:rPr lang="en-PK" smtClean="0"/>
              <a:t>06/22/2026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523A2-68BC-48EF-A9A9-EA5DA459080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979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523A2-68BC-48EF-A9A9-EA5DA4590801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35607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523A2-68BC-48EF-A9A9-EA5DA4590801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47886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898B-C86B-51A5-5EC2-6591E2AE4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1568678"/>
            <a:ext cx="11251096" cy="2387600"/>
          </a:xfrm>
        </p:spPr>
        <p:txBody>
          <a:bodyPr anchor="ctr" anchorCtr="0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84AABE-5183-4AA7-B8CA-552E8E477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4531093"/>
            <a:ext cx="11251095" cy="1655762"/>
          </a:xfrm>
        </p:spPr>
        <p:txBody>
          <a:bodyPr anchor="ctr" anchorCtr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963D6-43DA-3B85-4917-D371DEC6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76ABA-0B0E-4D44-AEFF-480BFCC26EF7}" type="datetime1">
              <a:rPr lang="en-US" smtClean="0"/>
              <a:t>6/22/2026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346DA-D58F-C1CD-FAB7-3F828740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BAFEC-FBC7-3D38-C417-06AA202B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t>‹#›</a:t>
            </a:fld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B7060-20D2-E788-175C-371E4B95AE60}"/>
              </a:ext>
            </a:extLst>
          </p:cNvPr>
          <p:cNvSpPr/>
          <p:nvPr userDrawn="1"/>
        </p:nvSpPr>
        <p:spPr>
          <a:xfrm>
            <a:off x="0" y="4368235"/>
            <a:ext cx="12192000" cy="54000"/>
          </a:xfrm>
          <a:prstGeom prst="rect">
            <a:avLst/>
          </a:prstGeom>
          <a:gradFill flip="none" rotWithShape="1">
            <a:gsLst>
              <a:gs pos="0">
                <a:srgbClr val="F86E06"/>
              </a:gs>
              <a:gs pos="33000">
                <a:srgbClr val="D48AD0"/>
              </a:gs>
              <a:gs pos="67000">
                <a:srgbClr val="6600FF"/>
              </a:gs>
              <a:gs pos="100000">
                <a:srgbClr val="0033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8" name="Picture 7" descr="A logo of a company&#10;&#10;Description automatically generated">
            <a:extLst>
              <a:ext uri="{FF2B5EF4-FFF2-40B4-BE49-F238E27FC236}">
                <a16:creationId xmlns:a16="http://schemas.microsoft.com/office/drawing/2014/main" id="{F65ED8FB-DEB6-A997-52F3-D9513ED307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800" y="-2426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73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69A01A-C7D4-F81F-0927-85892F0C89E0}"/>
              </a:ext>
            </a:extLst>
          </p:cNvPr>
          <p:cNvSpPr/>
          <p:nvPr userDrawn="1"/>
        </p:nvSpPr>
        <p:spPr>
          <a:xfrm>
            <a:off x="0" y="1272208"/>
            <a:ext cx="12192000" cy="54000"/>
          </a:xfrm>
          <a:prstGeom prst="rect">
            <a:avLst/>
          </a:prstGeom>
          <a:gradFill flip="none" rotWithShape="1">
            <a:gsLst>
              <a:gs pos="0">
                <a:srgbClr val="F86E06"/>
              </a:gs>
              <a:gs pos="33000">
                <a:srgbClr val="D48AD0"/>
              </a:gs>
              <a:gs pos="67000">
                <a:srgbClr val="6600FF"/>
              </a:gs>
              <a:gs pos="100000">
                <a:srgbClr val="0033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DB0B7-6D73-C4DE-1144-8E21214D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91" y="136525"/>
            <a:ext cx="11539331" cy="1076049"/>
          </a:xfrm>
        </p:spPr>
        <p:txBody>
          <a:bodyPr>
            <a:normAutofit/>
          </a:bodyPr>
          <a:lstStyle>
            <a:lvl1pPr>
              <a:defRPr sz="4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E6D3-E914-DC89-9E39-D4B47FD98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91" y="1381539"/>
            <a:ext cx="11539331" cy="487017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92102-F8F0-A9D2-9E6F-DB92E0BE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3835" y="6356350"/>
            <a:ext cx="1060174" cy="365125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>
              <a:defRPr sz="1400" b="1">
                <a:solidFill>
                  <a:srgbClr val="F86E0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7B4C4-4C53-4EC5-8363-1D4AC327A94D}" type="slidenum">
              <a:rPr lang="en-PK" smtClean="0"/>
              <a:pPr/>
              <a:t>‹#›</a:t>
            </a:fld>
            <a:endParaRPr lang="en-PK" dirty="0"/>
          </a:p>
        </p:txBody>
      </p:sp>
      <p:pic>
        <p:nvPicPr>
          <p:cNvPr id="8" name="Picture 7" descr="A logo of a company&#10;&#10;Description automatically generated">
            <a:extLst>
              <a:ext uri="{FF2B5EF4-FFF2-40B4-BE49-F238E27FC236}">
                <a16:creationId xmlns:a16="http://schemas.microsoft.com/office/drawing/2014/main" id="{34B41B37-7AFE-8666-872F-06295EF012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800" y="-2426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6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36B6-40B2-CEF9-EA04-564273F8A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E5810-9DA8-DB72-6CEE-89B34CF99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5C688-DBE4-9CC5-6587-13429A34C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9855-8610-4329-BDCC-4FF19EED321B}" type="datetime1">
              <a:rPr lang="en-US" smtClean="0"/>
              <a:t>6/22/2026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88ED4-7A2F-3B19-5C3A-9C636C4A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28484-6F84-8E9D-721F-48EF9EE0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3917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79A1-50BC-9632-9B6C-F0EB3FF8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51C26-BB95-A4CC-186C-BDCFD3031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0D16B-7090-9377-D163-EAAAAAC16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A0D5C-2D6D-677C-CBD0-32C68357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4FB7-C5E8-411B-A008-86AF0A41B6FC}" type="datetime1">
              <a:rPr lang="en-US" smtClean="0"/>
              <a:t>6/22/2026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B5EA2-57FC-7DE2-FA0A-4323F4D4A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B76FF-B412-9A25-95A0-E5B0A4D4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21617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7CED-63AD-0AFD-B0BB-421477E1A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A2B5A-5339-05D9-B242-B20262374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3EB0B-D37B-BC35-8AD9-BCABD388E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E85CFC-B0E8-1D9F-2C9D-5410836F23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C82BBC-BA00-926D-89D5-86D22283B3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5D6601-13CF-C1ED-C35C-8ED23279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06287-0B77-47C0-9CC3-03FE74C48C29}" type="datetime1">
              <a:rPr lang="en-US" smtClean="0"/>
              <a:t>6/22/2026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5F426D-4270-32F9-7107-E7A37A5B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4AF65E-798D-6F51-CFF0-4C2E6C21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50744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701-BA82-125C-7D81-55963D16D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B881F5-0D84-50E7-2492-A461D5598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34A14-9CB7-46CB-B236-1061064025CA}" type="datetime1">
              <a:rPr lang="en-US" smtClean="0"/>
              <a:t>6/22/2026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86CA69-FB97-1527-91DA-523824D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0385D-11BE-D407-5661-3BADF4AB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5582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E1F39-8E3B-E593-7228-F0746D7AC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957E-849E-48E6-B252-672C6C0D8E14}" type="datetime1">
              <a:rPr lang="en-US" smtClean="0"/>
              <a:t>6/22/2026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C5CB9-B900-EDAD-9AE7-FDD9596E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6B993-407D-A574-E976-A91C74BC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5105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CF33-E671-890A-8076-4A4BF73F0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41DF7-2D5B-F789-61C9-915B92A9A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13411-3BF0-43A6-E459-8F2852FA6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93191-F089-A552-075A-4C0C6AA54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7412D-AD64-44B9-BBCD-5D3A2C6E300E}" type="datetime1">
              <a:rPr lang="en-US" smtClean="0"/>
              <a:t>6/22/2026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52752-62B4-1A4A-1515-45923766D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EFDB6-16DB-72A2-3857-CE11F095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843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7C96-D37E-1180-452A-B44AB62A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7B278-3BCF-9B53-CFCB-FB6416A19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289A5-5432-84DC-AFEF-9C1D1D038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BD6C5-216F-4186-129B-90757CF3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947E0-7014-47E9-AF2F-7C08D7CF90F2}" type="datetime1">
              <a:rPr lang="en-US" smtClean="0"/>
              <a:t>6/22/2026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12F06-0186-401A-82F0-EE5F5CCF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A4D6-DD5C-6A05-3256-56D86836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8688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86A8E-44C3-4729-24D0-964A19BD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755F1-109F-2DF2-ED91-AACA1F930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31C80-CC50-4AC1-7547-EF3DC667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FD186-EEEF-4F43-AB97-F3F2966345C1}" type="datetime1">
              <a:rPr lang="en-US" smtClean="0"/>
              <a:t>6/22/2026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F8998-DAEF-E2B5-513A-0790A155D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833C9-B0E1-B7E5-6F5D-16135C1D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4923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AD64FF-E74C-6F80-412A-65F07A722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0D700-8E74-4FFD-BE5C-60CABCABF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4FC1D-E928-0194-63BD-9BCCE3B3E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9631-0FF8-48FE-AF29-13033D408F6E}" type="datetime1">
              <a:rPr lang="en-US" smtClean="0"/>
              <a:t>6/22/2026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9813B-4707-B68F-0326-EFAC08104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556E1-0C30-EE26-F27F-405976C5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532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D29FFE-AFD8-FA29-5088-30F63FA1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8674D-8507-3E94-25E1-E67A3AF09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FE286-72AA-6E2E-83AA-B0066D982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01551-DE07-40DD-9E05-F90E4C9888A2}" type="datetime1">
              <a:rPr lang="en-US" smtClean="0"/>
              <a:t>6/22/2026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2FF6-D970-AC40-94C9-594CE5EFD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3A1C1-77E7-6E11-6F15-D1732237A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7B4C4-4C53-4EC5-8363-1D4AC327A94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79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E24E-0955-135F-5E30-A545A750A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478" y="1230923"/>
            <a:ext cx="11251096" cy="3076205"/>
          </a:xfrm>
        </p:spPr>
        <p:txBody>
          <a:bodyPr>
            <a:normAutofit/>
          </a:bodyPr>
          <a:lstStyle/>
          <a:p>
            <a:r>
              <a:rPr lang="en-US" sz="4800" dirty="0"/>
              <a:t>AI Based Demand Side Management in Smart Home Environment</a:t>
            </a:r>
            <a:br>
              <a:rPr lang="en-US" sz="4800" dirty="0"/>
            </a:br>
            <a:br>
              <a:rPr lang="en-US" sz="4800" dirty="0"/>
            </a:br>
            <a:r>
              <a:rPr lang="en-US" sz="3600" dirty="0"/>
              <a:t>Final Year Project-EEe499</a:t>
            </a:r>
            <a:endParaRPr lang="en-PK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2B245-14AC-92D9-7EED-460496C3A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452" y="4700953"/>
            <a:ext cx="11251095" cy="17705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By                                                                                       Supervisor</a:t>
            </a:r>
          </a:p>
          <a:p>
            <a:pPr algn="l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Abdullah Faisal                                                                   Dr. M. Saeed Uz Zaman</a:t>
            </a:r>
          </a:p>
          <a:p>
            <a:pPr algn="l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Co-Supervisor</a:t>
            </a:r>
          </a:p>
          <a:p>
            <a:pPr algn="l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Dr. M. Abu Bakar</a:t>
            </a:r>
            <a:endParaRPr lang="en-PK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30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BAC6-5329-F4B3-584A-49C574AA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Contents</a:t>
            </a:r>
            <a:endParaRPr lang="en-PK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5F46E-6F7D-1D0F-B1D8-E52D88A98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Literature Review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Methodology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Workflow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Models of Electrical Components 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Constraints of Components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Cost Function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Grey Wolf Algorithm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Results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0513F-DA47-C200-6E5E-1B24B9E2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pPr/>
              <a:t>2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8609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BAC6-5329-F4B3-584A-49C574AA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Introduction</a:t>
            </a:r>
            <a:endParaRPr lang="en-PK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5F46E-6F7D-1D0F-B1D8-E52D88A98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/>
              <a:t>In this project, a smart home consisting of smart electrical sources (fuel cell, BESS, Utility electricity and renewables) and smart electrical loads(EV charging and other smart loads) is considered as an optimization problem.</a:t>
            </a:r>
          </a:p>
          <a:p>
            <a:pPr algn="just">
              <a:lnSpc>
                <a:spcPct val="150000"/>
              </a:lnSpc>
            </a:pPr>
            <a:r>
              <a:rPr lang="en-US" sz="2600" dirty="0"/>
              <a:t>With number of variables increased, the traditional mathematical optimization techniques become extremely complex to implement, so we are using Grey Wolf Optimization algorithm, which is a nature inspired metaheuristic optimization AI algorithm.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0513F-DA47-C200-6E5E-1B24B9E2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pPr/>
              <a:t>3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42755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BAC6-5329-F4B3-584A-49C574AA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Literature Review</a:t>
            </a:r>
            <a:endParaRPr lang="en-PK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5F46E-6F7D-1D0F-B1D8-E52D88A98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dirty="0"/>
              <a:t>Smart Home Energy Management Systems (SHEMS) are increasingly used to reduce electricity cost and improve energy efficiency through optimal scheduling of household resources (Khan et al., 2020).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Recent studies integrated renewable energy sources such as solar PV and wind along with Battery Energy Storage Systems (BESS) and Fuel Cells (FC) for residential applications (Mumtaz et al., 2018).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Electric Vehicle (EV) charging coordination and scheduling of non-critical household loads have also been investigated to reduce peak demand and operating cost (</a:t>
            </a:r>
            <a:r>
              <a:rPr lang="en-US" sz="2200" dirty="0" err="1"/>
              <a:t>Mohsenian</a:t>
            </a:r>
            <a:r>
              <a:rPr lang="en-US" sz="2200" dirty="0"/>
              <a:t>-Rad et al., 2010). 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Traditional optimization techniques such as Linear Programming and Dynamic Programming face difficulties in solving nonlinear constrained energy management problems (Siano, 2014).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solidFill>
                <a:srgbClr val="0033CC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0513F-DA47-C200-6E5E-1B24B9E2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pPr/>
              <a:t>4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493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BAC6-5329-F4B3-584A-49C574AA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Workflow</a:t>
            </a:r>
            <a:endParaRPr lang="en-PK" sz="4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0513F-DA47-C200-6E5E-1B24B9E2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pPr/>
              <a:t>5</a:t>
            </a:fld>
            <a:endParaRPr lang="en-PK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D40ADA-5C5B-E6BA-AFFE-A54BC6FEDC73}"/>
              </a:ext>
            </a:extLst>
          </p:cNvPr>
          <p:cNvSpPr/>
          <p:nvPr/>
        </p:nvSpPr>
        <p:spPr>
          <a:xfrm>
            <a:off x="2860425" y="1441939"/>
            <a:ext cx="984738" cy="26963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438455EB-1A85-60E6-5103-AD976A9AA9A0}"/>
              </a:ext>
            </a:extLst>
          </p:cNvPr>
          <p:cNvSpPr/>
          <p:nvPr/>
        </p:nvSpPr>
        <p:spPr>
          <a:xfrm>
            <a:off x="2262546" y="1899139"/>
            <a:ext cx="2192215" cy="468923"/>
          </a:xfrm>
          <a:prstGeom prst="parallelogram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Fetch Predicted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7F77A5-E4D1-3E30-A9F9-C9B30A529D42}"/>
              </a:ext>
            </a:extLst>
          </p:cNvPr>
          <p:cNvSpPr/>
          <p:nvPr/>
        </p:nvSpPr>
        <p:spPr>
          <a:xfrm>
            <a:off x="2074978" y="2637693"/>
            <a:ext cx="2579079" cy="4689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Define Comps. specs. and constraints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1C5EAA-FAFA-AB26-B9B0-CCB8335ACBEC}"/>
              </a:ext>
            </a:extLst>
          </p:cNvPr>
          <p:cNvSpPr/>
          <p:nvPr/>
        </p:nvSpPr>
        <p:spPr>
          <a:xfrm>
            <a:off x="1887410" y="3346939"/>
            <a:ext cx="2965938" cy="5517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Define Obj. Fun. with Power Balance constraints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A29645-0EE8-77DB-AA21-C8DFEF3B7D19}"/>
              </a:ext>
            </a:extLst>
          </p:cNvPr>
          <p:cNvSpPr/>
          <p:nvPr/>
        </p:nvSpPr>
        <p:spPr>
          <a:xfrm>
            <a:off x="1957747" y="4120662"/>
            <a:ext cx="2836985" cy="5517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Optimization Process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DCB02E-414D-2680-4726-E8DB45E208BC}"/>
              </a:ext>
            </a:extLst>
          </p:cNvPr>
          <p:cNvSpPr/>
          <p:nvPr/>
        </p:nvSpPr>
        <p:spPr>
          <a:xfrm>
            <a:off x="2028085" y="4911970"/>
            <a:ext cx="2696309" cy="5517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Select Optimal Solution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B81D25-9285-3B95-8628-5482D85C724A}"/>
              </a:ext>
            </a:extLst>
          </p:cNvPr>
          <p:cNvSpPr/>
          <p:nvPr/>
        </p:nvSpPr>
        <p:spPr>
          <a:xfrm>
            <a:off x="2157040" y="5673970"/>
            <a:ext cx="2461848" cy="5517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Schedule the Devices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D24A10C-73D2-622C-1569-6A9AB75C6D37}"/>
              </a:ext>
            </a:extLst>
          </p:cNvPr>
          <p:cNvSpPr/>
          <p:nvPr/>
        </p:nvSpPr>
        <p:spPr>
          <a:xfrm>
            <a:off x="2895594" y="6402387"/>
            <a:ext cx="984738" cy="31908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C914A4D-4790-8615-E444-1FD48EADCEA7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3352794" y="1711570"/>
            <a:ext cx="5860" cy="187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162C3D-26E0-26A7-E8EA-16BD1E3116E1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3358654" y="2368062"/>
            <a:ext cx="5864" cy="2696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F632CC6-7F8E-1C62-D11B-C97CF153A56D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3364518" y="3106615"/>
            <a:ext cx="5861" cy="2403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427F6D0-0989-88FD-F496-1302D35AB7D6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3370379" y="3898688"/>
            <a:ext cx="5861" cy="2219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11907FF-1892-057C-C968-E71958331321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3376240" y="4672411"/>
            <a:ext cx="0" cy="2395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0B48000-1DF5-3E59-1A5B-C2E2AC16C535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3376240" y="5463719"/>
            <a:ext cx="11724" cy="2102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CB8F21D-A925-34E5-0CF5-22F5FCBF2D99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 flipH="1">
            <a:off x="3387963" y="6225719"/>
            <a:ext cx="1" cy="1766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925B861-E34F-64BB-923B-6161F6083B1E}"/>
              </a:ext>
            </a:extLst>
          </p:cNvPr>
          <p:cNvSpPr/>
          <p:nvPr/>
        </p:nvSpPr>
        <p:spPr>
          <a:xfrm>
            <a:off x="6623539" y="1711570"/>
            <a:ext cx="3575541" cy="451414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FDD7DF7-94F5-510B-4846-760565A9405A}"/>
              </a:ext>
            </a:extLst>
          </p:cNvPr>
          <p:cNvSpPr/>
          <p:nvPr/>
        </p:nvSpPr>
        <p:spPr>
          <a:xfrm>
            <a:off x="7889631" y="1805354"/>
            <a:ext cx="984738" cy="2696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62EB2C32-BFA5-34E2-E51E-5AD15C190091}"/>
              </a:ext>
            </a:extLst>
          </p:cNvPr>
          <p:cNvSpPr/>
          <p:nvPr/>
        </p:nvSpPr>
        <p:spPr>
          <a:xfrm>
            <a:off x="7924796" y="5827960"/>
            <a:ext cx="984738" cy="3190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End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DDAA36F-BBEE-F4E5-AABE-BACCD1FE9B56}"/>
              </a:ext>
            </a:extLst>
          </p:cNvPr>
          <p:cNvSpPr/>
          <p:nvPr/>
        </p:nvSpPr>
        <p:spPr>
          <a:xfrm>
            <a:off x="6846279" y="2274280"/>
            <a:ext cx="3083161" cy="4689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Initialize Wolves Population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D2F45B9-2858-CF35-14C4-9EDEE5292AC0}"/>
              </a:ext>
            </a:extLst>
          </p:cNvPr>
          <p:cNvSpPr/>
          <p:nvPr/>
        </p:nvSpPr>
        <p:spPr>
          <a:xfrm>
            <a:off x="7045565" y="2930769"/>
            <a:ext cx="2696309" cy="551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Calculate Obj. Function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4C73EE7-AF8A-1726-B098-E1EFB7B91104}"/>
              </a:ext>
            </a:extLst>
          </p:cNvPr>
          <p:cNvSpPr/>
          <p:nvPr/>
        </p:nvSpPr>
        <p:spPr>
          <a:xfrm>
            <a:off x="7045565" y="3693151"/>
            <a:ext cx="2696309" cy="551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Specify </a:t>
            </a:r>
            <a:r>
              <a:rPr lang="el-GR" b="1" dirty="0">
                <a:solidFill>
                  <a:schemeClr val="tx1"/>
                </a:solidFill>
              </a:rPr>
              <a:t>α</a:t>
            </a:r>
            <a:r>
              <a:rPr lang="en-US" b="1" dirty="0">
                <a:solidFill>
                  <a:schemeClr val="tx1"/>
                </a:solidFill>
              </a:rPr>
              <a:t>, B and </a:t>
            </a:r>
            <a:r>
              <a:rPr lang="el-GR" b="1" dirty="0">
                <a:solidFill>
                  <a:schemeClr val="tx1"/>
                </a:solidFill>
              </a:rPr>
              <a:t>δ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5A0F232-8AC2-DD5E-9DBC-59A4E8D87B33}"/>
              </a:ext>
            </a:extLst>
          </p:cNvPr>
          <p:cNvSpPr/>
          <p:nvPr/>
        </p:nvSpPr>
        <p:spPr>
          <a:xfrm>
            <a:off x="7057290" y="4466496"/>
            <a:ext cx="2696309" cy="551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Update the Population</a:t>
            </a:r>
          </a:p>
        </p:txBody>
      </p:sp>
      <p:sp>
        <p:nvSpPr>
          <p:cNvPr id="84" name="Diamond 83">
            <a:extLst>
              <a:ext uri="{FF2B5EF4-FFF2-40B4-BE49-F238E27FC236}">
                <a16:creationId xmlns:a16="http://schemas.microsoft.com/office/drawing/2014/main" id="{52AF114E-DF4B-F7FB-DF22-607D879B52D2}"/>
              </a:ext>
            </a:extLst>
          </p:cNvPr>
          <p:cNvSpPr/>
          <p:nvPr/>
        </p:nvSpPr>
        <p:spPr>
          <a:xfrm>
            <a:off x="7444155" y="5193323"/>
            <a:ext cx="1946031" cy="457200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Counter = </a:t>
            </a:r>
            <a:r>
              <a:rPr lang="en-US" sz="1000" b="1" dirty="0" err="1">
                <a:solidFill>
                  <a:schemeClr val="tx1"/>
                </a:solidFill>
              </a:rPr>
              <a:t>Max_Gen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AFC42D1F-5CD5-F14D-F3A2-DF21F64B08EC}"/>
              </a:ext>
            </a:extLst>
          </p:cNvPr>
          <p:cNvCxnSpPr>
            <a:cxnSpLocks/>
            <a:endCxn id="75" idx="0"/>
          </p:cNvCxnSpPr>
          <p:nvPr/>
        </p:nvCxnSpPr>
        <p:spPr>
          <a:xfrm flipV="1">
            <a:off x="4806455" y="1711570"/>
            <a:ext cx="3604855" cy="2533330"/>
          </a:xfrm>
          <a:prstGeom prst="bentConnector4">
            <a:avLst>
              <a:gd name="adj1" fmla="val 25203"/>
              <a:gd name="adj2" fmla="val 109024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897225E-EEAE-A009-062E-A8F29F3EB8C8}"/>
              </a:ext>
            </a:extLst>
          </p:cNvPr>
          <p:cNvCxnSpPr>
            <a:cxnSpLocks/>
            <a:stCxn id="76" idx="2"/>
            <a:endCxn id="78" idx="0"/>
          </p:cNvCxnSpPr>
          <p:nvPr/>
        </p:nvCxnSpPr>
        <p:spPr>
          <a:xfrm>
            <a:off x="8382000" y="2074985"/>
            <a:ext cx="5860" cy="1992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FABEF5A-2CE4-EBD3-9C71-B02848A2B28A}"/>
              </a:ext>
            </a:extLst>
          </p:cNvPr>
          <p:cNvCxnSpPr>
            <a:stCxn id="78" idx="2"/>
            <a:endCxn id="79" idx="0"/>
          </p:cNvCxnSpPr>
          <p:nvPr/>
        </p:nvCxnSpPr>
        <p:spPr>
          <a:xfrm>
            <a:off x="8387860" y="2743202"/>
            <a:ext cx="5860" cy="1875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1076C79-BECB-7CC5-8F66-E11AA3032F59}"/>
              </a:ext>
            </a:extLst>
          </p:cNvPr>
          <p:cNvCxnSpPr>
            <a:stCxn id="79" idx="2"/>
            <a:endCxn id="80" idx="0"/>
          </p:cNvCxnSpPr>
          <p:nvPr/>
        </p:nvCxnSpPr>
        <p:spPr>
          <a:xfrm>
            <a:off x="8393720" y="3482518"/>
            <a:ext cx="0" cy="2106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9AA6F56-1168-DBB7-70BC-8C3FFCD9A413}"/>
              </a:ext>
            </a:extLst>
          </p:cNvPr>
          <p:cNvCxnSpPr>
            <a:stCxn id="80" idx="2"/>
            <a:endCxn id="83" idx="0"/>
          </p:cNvCxnSpPr>
          <p:nvPr/>
        </p:nvCxnSpPr>
        <p:spPr>
          <a:xfrm>
            <a:off x="8393720" y="4244900"/>
            <a:ext cx="11725" cy="2215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56F4B900-B0E8-DA79-40B3-6FC107453BA3}"/>
              </a:ext>
            </a:extLst>
          </p:cNvPr>
          <p:cNvCxnSpPr>
            <a:stCxn id="83" idx="2"/>
            <a:endCxn id="84" idx="0"/>
          </p:cNvCxnSpPr>
          <p:nvPr/>
        </p:nvCxnSpPr>
        <p:spPr>
          <a:xfrm>
            <a:off x="8405445" y="5018245"/>
            <a:ext cx="11726" cy="1750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8B16545-E81F-1AEC-50ED-2A85A07382C3}"/>
              </a:ext>
            </a:extLst>
          </p:cNvPr>
          <p:cNvCxnSpPr>
            <a:stCxn id="84" idx="2"/>
            <a:endCxn id="77" idx="0"/>
          </p:cNvCxnSpPr>
          <p:nvPr/>
        </p:nvCxnSpPr>
        <p:spPr>
          <a:xfrm flipH="1">
            <a:off x="8417165" y="5650523"/>
            <a:ext cx="6" cy="1774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88FFB769-63C0-463D-45CC-63B011357DCF}"/>
              </a:ext>
            </a:extLst>
          </p:cNvPr>
          <p:cNvSpPr txBox="1"/>
          <p:nvPr/>
        </p:nvSpPr>
        <p:spPr>
          <a:xfrm>
            <a:off x="8459226" y="5568459"/>
            <a:ext cx="50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YES</a:t>
            </a:r>
            <a:endParaRPr lang="en-US" b="1" dirty="0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B8B0AAA7-6571-8144-9264-E0AEE280F178}"/>
              </a:ext>
            </a:extLst>
          </p:cNvPr>
          <p:cNvCxnSpPr>
            <a:cxnSpLocks/>
            <a:stCxn id="84" idx="3"/>
            <a:endCxn id="79" idx="3"/>
          </p:cNvCxnSpPr>
          <p:nvPr/>
        </p:nvCxnSpPr>
        <p:spPr>
          <a:xfrm flipV="1">
            <a:off x="9390186" y="3206644"/>
            <a:ext cx="351688" cy="2215279"/>
          </a:xfrm>
          <a:prstGeom prst="bentConnector3">
            <a:avLst>
              <a:gd name="adj1" fmla="val 16500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4335779A-6DA7-D5DA-936A-9324262BE8F6}"/>
              </a:ext>
            </a:extLst>
          </p:cNvPr>
          <p:cNvSpPr txBox="1"/>
          <p:nvPr/>
        </p:nvSpPr>
        <p:spPr>
          <a:xfrm>
            <a:off x="9361898" y="5193323"/>
            <a:ext cx="447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NO</a:t>
            </a:r>
            <a:endParaRPr lang="en-US" b="1" dirty="0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7C128D2B-D14F-7A2E-2DDF-47B4ECBFA421}"/>
              </a:ext>
            </a:extLst>
          </p:cNvPr>
          <p:cNvCxnSpPr>
            <a:cxnSpLocks/>
            <a:stCxn id="75" idx="2"/>
          </p:cNvCxnSpPr>
          <p:nvPr/>
        </p:nvCxnSpPr>
        <p:spPr>
          <a:xfrm rot="5400000" flipH="1">
            <a:off x="5734586" y="3548995"/>
            <a:ext cx="1713424" cy="3640024"/>
          </a:xfrm>
          <a:prstGeom prst="bentConnector4">
            <a:avLst>
              <a:gd name="adj1" fmla="val -13342"/>
              <a:gd name="adj2" fmla="val 74557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174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36A42-ECE5-4979-159F-1028938C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F5CE-943A-82BA-06F4-EE55D840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Components Overview</a:t>
            </a:r>
            <a:endParaRPr lang="en-PK" sz="4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8E0C5A-5CA3-A6AF-ADD8-BAE18EF2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B01489-E7A3-63B7-422F-1539889B9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91" y="1633660"/>
            <a:ext cx="11536018" cy="508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5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7D78-0A8F-1FC3-79FC-B46B389B0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4435-939D-357B-CBE8-EC426055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Electrical and Thermal Loads</a:t>
            </a:r>
            <a:endParaRPr lang="en-PK" sz="4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378B64-756B-7E05-107E-F9B37A91C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2" r="8314"/>
          <a:stretch>
            <a:fillRect/>
          </a:stretch>
        </p:blipFill>
        <p:spPr>
          <a:xfrm>
            <a:off x="1066800" y="1524000"/>
            <a:ext cx="10058400" cy="483235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DA3B5A-C3D3-5DE0-2B02-107A795A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981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9E04-074F-C167-23E9-4958AE789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BA5C8-9A13-1F78-044D-16F0380A4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Renewables Generation</a:t>
            </a:r>
            <a:endParaRPr lang="en-PK" sz="4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D5BBE3-6F22-CEE8-5801-6F21ACE4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12CA2E-6784-E8F7-BDB4-6AEEF5F2B7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1" t="4056" r="8527"/>
          <a:stretch>
            <a:fillRect/>
          </a:stretch>
        </p:blipFill>
        <p:spPr>
          <a:xfrm>
            <a:off x="2130402" y="1384300"/>
            <a:ext cx="7731171" cy="48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868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B580-01F1-45E0-A7FA-DF9EB2B4D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F3344-4598-88C7-15B0-AE287E1E6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Modeling the Components</a:t>
            </a:r>
            <a:endParaRPr lang="en-PK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4427E2-DA5B-BB8C-AD8B-B325097CC5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600" b="1" dirty="0"/>
                  <a:t>Fuel Cell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/>
                  <a:t>The Fuel Cell used in this work is a Proton Exchange Membrane Fuel Cell</a:t>
                </a:r>
                <a:r>
                  <a:rPr lang="en-US" sz="2400" b="1" dirty="0"/>
                  <a:t> </a:t>
                </a:r>
                <a:r>
                  <a:rPr lang="en-US" sz="2400" dirty="0"/>
                  <a:t> based micro-Combined Heat and Power (micro-CHP) unit. It simultaneously produces electrical and thermal energy for both electrical and thermal demands. </a:t>
                </a:r>
                <a:endParaRPr lang="en-US" sz="2600" b="1" dirty="0"/>
              </a:p>
              <a:p>
                <a:r>
                  <a:rPr lang="en-US" sz="2400" dirty="0"/>
                  <a:t>The Partial Load Ratio of the fuel cell is calculated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𝑃𝐿𝑅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SA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𝐹𝐶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𝑒𝑙</m:t>
                              </m:r>
                            </m:sub>
                          </m:sSub>
                          <m:d>
                            <m:d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𝐹𝐶</m:t>
                              </m:r>
                            </m:sub>
                            <m:sup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600" dirty="0"/>
              </a:p>
              <a:p>
                <a:r>
                  <a:rPr lang="en-US" sz="2400" dirty="0"/>
                  <a:t>The electrical efficiency of the FC is modeled using the following polynomial equation: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𝐹𝐶</m:t>
                          </m:r>
                        </m:sub>
                      </m:sSub>
                      <m:d>
                        <m:dPr>
                          <m:ctrlPr>
                            <a:rPr lang="ar-SA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SA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9033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𝑃𝐿</m:t>
                      </m:r>
                      <m:sSup>
                        <m:sSup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SA" sz="240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ar-SA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9996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𝑃𝐿</m:t>
                      </m:r>
                      <m:sSup>
                        <m:sSup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SA" sz="240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ar-SA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6503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𝑃𝐿</m:t>
                      </m:r>
                      <m:sSup>
                        <m:sSup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SA" sz="24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SA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0704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𝑃𝐿</m:t>
                      </m:r>
                      <m:sSup>
                        <m:sSup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SA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SA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4623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𝑃𝐿𝑅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3747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ar-SA" sz="2400" dirty="0"/>
              </a:p>
              <a:p>
                <a:r>
                  <a:rPr lang="en-US" sz="2400" dirty="0"/>
                  <a:t>For very low loading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𝑃𝐿𝑅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05</m:t>
                        </m:r>
                      </m:e>
                    </m:d>
                  </m:oMath>
                </a14:m>
                <a:r>
                  <a:rPr lang="ar-SA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𝐹𝐶</m:t>
                          </m:r>
                        </m:sub>
                      </m:sSub>
                      <m:r>
                        <a:rPr lang="ar-SA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>
                          <a:latin typeface="Cambria Math" panose="02040503050406030204" pitchFamily="18" charset="0"/>
                        </a:rPr>
                        <m:t>2716</m:t>
                      </m:r>
                    </m:oMath>
                  </m:oMathPara>
                </a14:m>
                <a:endParaRPr lang="ar-SA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4427E2-DA5B-BB8C-AD8B-B325097CC5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2EB19-4117-AA2D-A335-92E82616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653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6EC27-C85D-E3E4-BDA6-2F1C687D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A66D-8F30-4B71-AA7C-62857C405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Modeling the Components</a:t>
            </a:r>
            <a:endParaRPr lang="en-PK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FEB33-BCFC-FB9F-A02A-C8D9288A6B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The thermal-to-electrical ratio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𝑟𝑇𝐸</m:t>
                    </m:r>
                  </m:oMath>
                </a14:m>
                <a:r>
                  <a:rPr lang="en-US" sz="2000" dirty="0"/>
                  <a:t>) is expressed as: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𝑟𝑇𝐸</m:t>
                      </m:r>
                      <m:d>
                        <m:dPr>
                          <m:ctrlPr>
                            <a:rPr lang="ar-SA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SA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SA" sz="200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000" smtClean="0">
                          <a:latin typeface="Cambria Math" panose="02040503050406030204" pitchFamily="18" charset="0"/>
                        </a:rPr>
                        <m:t>0785</m:t>
                      </m:r>
                      <m:r>
                        <a:rPr lang="ar-SA" sz="2000" i="1">
                          <a:latin typeface="Cambria Math" panose="02040503050406030204" pitchFamily="18" charset="0"/>
                        </a:rPr>
                        <m:t>𝑃𝐿</m:t>
                      </m:r>
                      <m:sSup>
                        <m:sSupPr>
                          <m:ctrlPr>
                            <a:rPr lang="ar-SA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SA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SA" sz="200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ar-SA" sz="20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9739</m:t>
                      </m:r>
                      <m:r>
                        <a:rPr lang="ar-SA" sz="2000" i="1">
                          <a:latin typeface="Cambria Math" panose="02040503050406030204" pitchFamily="18" charset="0"/>
                        </a:rPr>
                        <m:t>𝑃𝐿</m:t>
                      </m:r>
                      <m:sSup>
                        <m:sSupPr>
                          <m:ctrlPr>
                            <a:rPr lang="ar-SA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SA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SA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SA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5005</m:t>
                      </m:r>
                      <m:r>
                        <a:rPr lang="ar-SA" sz="2000" i="1">
                          <a:latin typeface="Cambria Math" panose="02040503050406030204" pitchFamily="18" charset="0"/>
                        </a:rPr>
                        <m:t>𝑃𝐿</m:t>
                      </m:r>
                      <m:sSup>
                        <m:sSupPr>
                          <m:ctrlPr>
                            <a:rPr lang="ar-SA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SA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SA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SA" sz="20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2817</m:t>
                      </m:r>
                      <m:r>
                        <a:rPr lang="ar-SA" sz="2000" i="1">
                          <a:latin typeface="Cambria Math" panose="02040503050406030204" pitchFamily="18" charset="0"/>
                        </a:rPr>
                        <m:t>𝑃𝐿𝑅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000">
                          <a:latin typeface="Cambria Math" panose="02040503050406030204" pitchFamily="18" charset="0"/>
                        </a:rPr>
                        <m:t>6838</m:t>
                      </m:r>
                    </m:oMath>
                  </m:oMathPara>
                </a14:m>
                <a:endParaRPr lang="ar-SA" sz="2000" dirty="0"/>
              </a:p>
              <a:p>
                <a:r>
                  <a:rPr lang="en-US" sz="2000" dirty="0"/>
                  <a:t>For low operating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S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sz="2400" i="1">
                            <a:latin typeface="Cambria Math" panose="02040503050406030204" pitchFamily="18" charset="0"/>
                          </a:rPr>
                          <m:t>𝑃𝐿𝑅</m:t>
                        </m:r>
                        <m:r>
                          <a:rPr lang="ar-SA" sz="240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ar-SA" sz="24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SA" sz="24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SA" sz="2400">
                            <a:latin typeface="Cambria Math" panose="02040503050406030204" pitchFamily="18" charset="0"/>
                          </a:rPr>
                          <m:t>05</m:t>
                        </m:r>
                      </m:e>
                    </m:d>
                  </m:oMath>
                </a14:m>
                <a:r>
                  <a:rPr lang="ar-SA" sz="2000" dirty="0"/>
                  <a:t>:</a:t>
                </a:r>
                <a:endParaRPr lang="en-US" sz="2000" dirty="0"/>
              </a:p>
              <a:p>
                <a:endParaRPr lang="ar-SA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SA" sz="2400" i="1">
                          <a:latin typeface="Cambria Math" panose="02040503050406030204" pitchFamily="18" charset="0"/>
                        </a:rPr>
                        <m:t>𝑟𝑇𝐸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400">
                          <a:latin typeface="Cambria Math" panose="02040503050406030204" pitchFamily="18" charset="0"/>
                        </a:rPr>
                        <m:t>6816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The thermal power generated by the FC is calculated as: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𝐹𝐶</m:t>
                          </m:r>
                          <m:r>
                            <a:rPr lang="ar-SA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SA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𝐹𝐶</m:t>
                          </m:r>
                          <m:r>
                            <a:rPr lang="ar-SA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SA" sz="24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SA" sz="2400" i="1">
                          <a:latin typeface="Cambria Math" panose="02040503050406030204" pitchFamily="18" charset="0"/>
                        </a:rPr>
                        <m:t>𝑟𝑇𝐸</m:t>
                      </m:r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r>
                  <a:rPr lang="en-US" sz="1800" dirty="0"/>
                  <a:t>The operating cost of the FC is modeled as:</a:t>
                </a:r>
              </a:p>
              <a:p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𝐹𝐶</m:t>
                          </m:r>
                        </m:sub>
                      </m:sSub>
                      <m:d>
                        <m:d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SA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SA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𝑔𝑎𝑠</m:t>
                              </m:r>
                            </m:sub>
                          </m:sSub>
                          <m:r>
                            <a:rPr lang="ar-SA" sz="240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𝐹𝐶</m:t>
                              </m:r>
                            </m:sub>
                          </m:sSub>
                          <m:d>
                            <m:d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𝐹𝐶</m:t>
                              </m:r>
                            </m:sub>
                          </m:sSub>
                          <m:d>
                            <m:dPr>
                              <m:ctrlPr>
                                <a:rPr lang="ar-S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SA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SA" sz="1600" dirty="0"/>
              </a:p>
              <a:p>
                <a:pPr marL="0" indent="0">
                  <a:buNone/>
                </a:pPr>
                <a:endParaRPr lang="ar-SA" sz="1800" dirty="0"/>
              </a:p>
              <a:p>
                <a:pPr marL="0" indent="0">
                  <a:buNone/>
                </a:pPr>
                <a:endParaRPr lang="ar-SA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FEB33-BCFC-FB9F-A02A-C8D9288A6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5" t="-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1B081A-48DA-38CA-D3F1-3E73B90B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932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FCED7-64A0-8E56-705D-A6FDB71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D5D53-9143-073F-C070-5108F2024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Modeling the Components</a:t>
            </a:r>
            <a:endParaRPr lang="en-PK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9C76B-3601-F6DB-DE27-4D51FD571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Fuel Cell Parameters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  </a:t>
            </a:r>
          </a:p>
          <a:p>
            <a:pPr marL="0" indent="0">
              <a:buNone/>
            </a:pPr>
            <a:endParaRPr lang="ar-SA" sz="2000" dirty="0"/>
          </a:p>
          <a:p>
            <a:pPr marL="0" indent="0">
              <a:lnSpc>
                <a:spcPct val="150000"/>
              </a:lnSpc>
              <a:buNone/>
            </a:pPr>
            <a:endParaRPr lang="en-US" sz="2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CD414D-B8C1-8DCA-60C9-EF8AD1D7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A50314A-7A2C-93BF-69E3-FF35AD3FD1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6909971"/>
                  </p:ext>
                </p:extLst>
              </p:nvPr>
            </p:nvGraphicFramePr>
            <p:xfrm>
              <a:off x="838200" y="2133600"/>
              <a:ext cx="10098977" cy="4222750"/>
            </p:xfrm>
            <a:graphic>
              <a:graphicData uri="http://schemas.openxmlformats.org/drawingml/2006/table">
                <a:tbl>
                  <a:tblPr/>
                  <a:tblGrid>
                    <a:gridCol w="3088577">
                      <a:extLst>
                        <a:ext uri="{9D8B030D-6E8A-4147-A177-3AD203B41FA5}">
                          <a16:colId xmlns:a16="http://schemas.microsoft.com/office/drawing/2014/main" val="3991890407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91500444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256387470"/>
                        </a:ext>
                      </a:extLst>
                    </a:gridCol>
                  </a:tblGrid>
                  <a:tr h="6032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Parameter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Value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Unit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698894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S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latin typeface="Cambria Math" panose="02040503050406030204" pitchFamily="18" charset="0"/>
                                      </a:rPr>
                                      <m:t>FC</m:t>
                                    </m:r>
                                    <m:r>
                                      <a:rPr lang="ar-SA" sz="18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1.2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9367721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S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latin typeface="Cambria Math" panose="02040503050406030204" pitchFamily="18" charset="0"/>
                                      </a:rPr>
                                      <m:t>FC</m:t>
                                    </m:r>
                                    <m:r>
                                      <a:rPr lang="ar-SA" sz="18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0.05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3546280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Ramp-Up Limit (</a:t>
                          </a:r>
                          <a:r>
                            <a:rPr lang="el-GR" dirty="0"/>
                            <a:t>Δ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  <m:r>
                                    <a:rPr lang="ar-SA" sz="18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𝑈𝑃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0.75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6193727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Ramp-Down Limit (</a:t>
                          </a:r>
                          <a:r>
                            <a:rPr lang="el-GR" dirty="0"/>
                            <a:t>Δ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FC</m:t>
                                  </m:r>
                                  <m:r>
                                    <a:rPr lang="ar-SA" sz="18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𝐷𝑁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0.9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87793604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Startup Cost (</a:t>
                          </a:r>
                          <a:r>
                            <a:rPr lang="el-GR" dirty="0"/>
                            <a:t>α)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0.15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$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6392998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Shutdown Cost (</a:t>
                          </a:r>
                          <a:r>
                            <a:rPr lang="el-GR" dirty="0"/>
                            <a:t>β)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$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01297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A50314A-7A2C-93BF-69E3-FF35AD3FD1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6909971"/>
                  </p:ext>
                </p:extLst>
              </p:nvPr>
            </p:nvGraphicFramePr>
            <p:xfrm>
              <a:off x="838200" y="2133600"/>
              <a:ext cx="10098977" cy="4222750"/>
            </p:xfrm>
            <a:graphic>
              <a:graphicData uri="http://schemas.openxmlformats.org/drawingml/2006/table">
                <a:tbl>
                  <a:tblPr/>
                  <a:tblGrid>
                    <a:gridCol w="3088577">
                      <a:extLst>
                        <a:ext uri="{9D8B030D-6E8A-4147-A177-3AD203B41FA5}">
                          <a16:colId xmlns:a16="http://schemas.microsoft.com/office/drawing/2014/main" val="3991890407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91500444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256387470"/>
                        </a:ext>
                      </a:extLst>
                    </a:gridCol>
                  </a:tblGrid>
                  <a:tr h="6032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Parameter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Value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Unit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698894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0000" r="-227022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1.2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9367721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0000" r="-227022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0.05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3546280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300000" r="-22702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0.75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6193727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400000" r="-22702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0.9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87793604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Startup Cost (</a:t>
                          </a:r>
                          <a:r>
                            <a:rPr lang="el-GR" dirty="0"/>
                            <a:t>α)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0.15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$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6392998"/>
                      </a:ext>
                    </a:extLst>
                  </a:tr>
                  <a:tr h="6032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Shutdown Cost (</a:t>
                          </a:r>
                          <a:r>
                            <a:rPr lang="el-GR" dirty="0"/>
                            <a:t>β)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$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012979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208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FEEC9-5F51-6F83-F436-B8F8FB55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CE52-0058-4141-E61C-4AC0980DC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Modeling the Components</a:t>
            </a:r>
            <a:endParaRPr lang="en-PK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D4399-D6B1-24AC-C033-D27D19B52C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1" dirty="0"/>
                  <a:t>2.  Battery Energy Storage System</a:t>
                </a:r>
              </a:p>
              <a:p>
                <a:pPr marL="0" indent="0">
                  <a:buNone/>
                </a:pPr>
                <a:r>
                  <a:rPr lang="en-US" sz="1800" dirty="0"/>
                  <a:t>The energy dynamics of the BESS are modeled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S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SA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SA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SA" i="1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ar-SA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𝑑𝑐</m:t>
                          </m:r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ar-SA" sz="1800" dirty="0"/>
              </a:p>
              <a:p>
                <a:pPr marL="0" indent="0">
                  <a:buNone/>
                </a:pPr>
                <a:r>
                  <a:rPr lang="en-US" sz="1800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SA" sz="1800" dirty="0"/>
                  <a:t>= </a:t>
                </a:r>
                <a:r>
                  <a:rPr lang="en-US" sz="1800" dirty="0"/>
                  <a:t>Energy stored in the battery at interval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SA" sz="1800" dirty="0"/>
                  <a:t>= </a:t>
                </a:r>
                <a:r>
                  <a:rPr lang="en-US" sz="1800" dirty="0"/>
                  <a:t>Energy stored in the previous interval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ar-SA" sz="1800" dirty="0"/>
                  <a:t>= </a:t>
                </a:r>
                <a:r>
                  <a:rPr lang="en-US" sz="1800" dirty="0"/>
                  <a:t>Battery charging power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𝑑𝑐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ar-SA" sz="1800" dirty="0"/>
                  <a:t>= </a:t>
                </a:r>
                <a:r>
                  <a:rPr lang="en-US" sz="1800" dirty="0"/>
                  <a:t>Battery discharging power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ar-SA" sz="1800" dirty="0"/>
                  <a:t>= </a:t>
                </a:r>
                <a:r>
                  <a:rPr lang="en-US" sz="1800" dirty="0"/>
                  <a:t>Charging efficiency of the battery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𝑑𝑐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ar-SA" sz="1800" dirty="0"/>
                  <a:t>= </a:t>
                </a:r>
                <a:r>
                  <a:rPr lang="en-US" sz="1800" dirty="0"/>
                  <a:t>Discharging efficiency of the battery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800" dirty="0"/>
                  <a:t>= Simulation time step</a:t>
                </a:r>
              </a:p>
              <a:p>
                <a:pPr marL="0" indent="0">
                  <a:buNone/>
                </a:pPr>
                <a:endParaRPr lang="ar-SA" sz="1800" dirty="0"/>
              </a:p>
              <a:p>
                <a:pPr marL="0" indent="0">
                  <a:buNone/>
                </a:pPr>
                <a:endParaRPr lang="ar-SA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D4399-D6B1-24AC-C033-D27D19B52C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7" b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E9F28B-1B9E-EA55-8DC6-80CC41D0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757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0AF4-DC8B-2202-AA82-F7CBA98DB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D6B6-15D7-5E0B-B9C5-27DA5F2BE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Modeling the Components</a:t>
            </a:r>
            <a:endParaRPr lang="en-PK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DB16E-D9A6-18F0-0E34-34FCF1FED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BESS Parameters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1" dirty="0"/>
          </a:p>
          <a:p>
            <a:pPr marL="0" indent="0">
              <a:buNone/>
            </a:pPr>
            <a:endParaRPr lang="ar-SA" sz="1800" dirty="0"/>
          </a:p>
          <a:p>
            <a:pPr marL="0" indent="0">
              <a:buNone/>
            </a:pPr>
            <a:endParaRPr lang="ar-SA" sz="2000" dirty="0"/>
          </a:p>
          <a:p>
            <a:pPr marL="0" indent="0">
              <a:lnSpc>
                <a:spcPct val="150000"/>
              </a:lnSpc>
              <a:buNone/>
            </a:pPr>
            <a:endParaRPr lang="en-US" sz="2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CB065-9DD8-B890-18A4-42D5FB40D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B1C0147-F426-D444-83A3-46506A47A5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0375546"/>
                  </p:ext>
                </p:extLst>
              </p:nvPr>
            </p:nvGraphicFramePr>
            <p:xfrm>
              <a:off x="838200" y="2172494"/>
              <a:ext cx="10515600" cy="2620645"/>
            </p:xfrm>
            <a:graphic>
              <a:graphicData uri="http://schemas.openxmlformats.org/drawingml/2006/table">
                <a:tbl>
                  <a:tblPr/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493565830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4238411834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71775418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Parameter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Value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Unit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878119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S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  <m:r>
                                      <a:rPr lang="ar-SA" sz="18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kWh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2993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S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  <m:r>
                                      <a:rPr lang="ar-SA" sz="18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169021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S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  <m:r>
                                      <a:rPr lang="ar-SA" sz="18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latin typeface="Cambria Math" panose="02040503050406030204" pitchFamily="18" charset="0"/>
                                      </a:rPr>
                                      <m:t>ch</m:t>
                                    </m:r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-0.75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19145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S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  <m:r>
                                      <a:rPr lang="ar-SA" sz="18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latin typeface="Cambria Math" panose="02040503050406030204" pitchFamily="18" charset="0"/>
                                      </a:rPr>
                                      <m:t>dch</m:t>
                                    </m:r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2.25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908178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 smtClean="0"/>
                                    <m:t>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  <m:r>
                                    <a:rPr lang="ar-SA" sz="18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ch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 smtClean="0"/>
                                    <m:t>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  <m:r>
                                    <a:rPr lang="ar-SA" sz="18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dch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-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8187307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Battery O&amp;M Cost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0.001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$/kWh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127957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B1C0147-F426-D444-83A3-46506A47A5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0375546"/>
                  </p:ext>
                </p:extLst>
              </p:nvPr>
            </p:nvGraphicFramePr>
            <p:xfrm>
              <a:off x="838200" y="2172494"/>
              <a:ext cx="10515600" cy="2620645"/>
            </p:xfrm>
            <a:graphic>
              <a:graphicData uri="http://schemas.openxmlformats.org/drawingml/2006/table">
                <a:tbl>
                  <a:tblPr/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493565830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4238411834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71775418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Parameter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Value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Unit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87811964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3226" r="-200174" b="-5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kWh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29935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3226" r="-200174" b="-4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16902164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98413" r="-200174" b="-317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-0.75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191456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404839" r="-200174" b="-2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2.25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9081786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504839" r="-200174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-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818730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Battery O&amp;M Cost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0.001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$/kWh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127957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151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857EA-9AE7-4068-8EF9-825766FB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329D-C9AB-D8CE-AEAB-598D05307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Modeling the Components</a:t>
            </a:r>
            <a:endParaRPr lang="en-PK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8347B-CA6F-A390-7009-9E1ACD8F9B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1" dirty="0"/>
                  <a:t>3</a:t>
                </a:r>
                <a:r>
                  <a:rPr lang="en-US" sz="2900" b="1" dirty="0"/>
                  <a:t>. Electric Vehicle</a:t>
                </a:r>
                <a:endParaRPr lang="en-US" sz="2400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100" dirty="0"/>
                  <a:t>The SOC of the EV at plug-in time is calculated as: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smtClean="0">
                          <a:latin typeface="Cambria Math" panose="02040503050406030204" pitchFamily="18" charset="0"/>
                        </a:rPr>
                        <m:t>𝑆𝑂</m:t>
                      </m:r>
                      <m:sSub>
                        <m:sSubPr>
                          <m:ctrlPr>
                            <a:rPr lang="ar-SA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sz="23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SA" sz="2300" i="1">
                              <a:latin typeface="Cambria Math" panose="02040503050406030204" pitchFamily="18" charset="0"/>
                            </a:rPr>
                            <m:t>𝐸𝑉</m:t>
                          </m:r>
                          <m:r>
                            <a:rPr lang="ar-SA" sz="23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SA" sz="2300" i="1">
                              <a:latin typeface="Cambria Math" panose="02040503050406030204" pitchFamily="18" charset="0"/>
                            </a:rPr>
                            <m:t>𝑝𝑖</m:t>
                          </m:r>
                        </m:sub>
                      </m:sSub>
                      <m:r>
                        <a:rPr lang="ar-SA" sz="23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SA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3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SA" sz="2300" i="1">
                                    <a:latin typeface="Cambria Math" panose="02040503050406030204" pitchFamily="18" charset="0"/>
                                  </a:rPr>
                                  <m:t>𝑆𝑂</m:t>
                                </m:r>
                                <m:sSub>
                                  <m:sSubPr>
                                    <m:ctrlP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𝐸𝑉</m:t>
                                    </m:r>
                                    <m:r>
                                      <a:rPr lang="ar-SA" sz="23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𝑝𝑜</m:t>
                                    </m:r>
                                  </m:sub>
                                </m:sSub>
                                <m:r>
                                  <a:rPr lang="ar-SA" sz="23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  <m:t>𝐸𝑉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ar-SA" sz="2300" i="1"/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  <m:t>𝐸𝑉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ar-SA" sz="23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300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2300" i="1"/>
                                  <m:t> 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</a:rPr>
                                  <m:t>𝑆𝑂</m:t>
                                </m:r>
                                <m:sSub>
                                  <m:sSubPr>
                                    <m:ctrlP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𝐸𝑉</m:t>
                                    </m:r>
                                    <m:r>
                                      <a:rPr lang="ar-SA" sz="23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𝑝𝑜</m:t>
                                    </m:r>
                                  </m:sub>
                                </m:sSub>
                                <m:r>
                                  <a:rPr lang="ar-SA" sz="23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  <m:t>𝐸𝑉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ar-SA" sz="2300" i="1"/>
                                      <m:t> </m:t>
                                    </m:r>
                                    <m:sSub>
                                      <m:sSubPr>
                                        <m:ctrlP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ar-SA" sz="2300" i="1">
                                            <a:latin typeface="Cambria Math" panose="02040503050406030204" pitchFamily="18" charset="0"/>
                                          </a:rPr>
                                          <m:t>𝐸𝑉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ar-SA" sz="230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ar-SA" sz="2300" i="1">
                                    <a:latin typeface="Cambria Math" panose="02040503050406030204" pitchFamily="18" charset="0"/>
                                  </a:rPr>
                                  <m:t>𝑆𝑂</m:t>
                                </m:r>
                                <m:sSub>
                                  <m:sSubPr>
                                    <m:ctrlP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𝐸𝑉</m:t>
                                    </m:r>
                                    <m:r>
                                      <a:rPr lang="ar-SA" sz="23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SA" sz="2300" i="1">
                                    <a:latin typeface="Cambria Math" panose="02040503050406030204" pitchFamily="18" charset="0"/>
                                  </a:rPr>
                                  <m:t>𝑆𝑂</m:t>
                                </m:r>
                                <m:sSub>
                                  <m:sSubPr>
                                    <m:ctrlP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𝐸𝑉</m:t>
                                    </m:r>
                                    <m:r>
                                      <a:rPr lang="ar-SA" sz="23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SA" sz="2300" i="1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  <m:r>
                                  <a:rPr lang="ar-SA" sz="23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300" i="1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SA" sz="1600" b="0" dirty="0"/>
              </a:p>
              <a:p>
                <a:pPr marL="0" indent="0">
                  <a:buNone/>
                </a:pPr>
                <a:r>
                  <a:rPr lang="en-US" sz="1600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𝑆𝑂</m:t>
                    </m:r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𝐸𝑉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𝑝𝑖</m:t>
                        </m:r>
                      </m:sub>
                    </m:sSub>
                  </m:oMath>
                </a14:m>
                <a:r>
                  <a:rPr lang="ar-SA" sz="1600" dirty="0"/>
                  <a:t>= </a:t>
                </a:r>
                <a:r>
                  <a:rPr lang="en-US" sz="1600" dirty="0"/>
                  <a:t>EV SOC at plug-in time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𝑆𝑂</m:t>
                    </m:r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𝐸𝑉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𝑝𝑜</m:t>
                        </m:r>
                      </m:sub>
                    </m:sSub>
                  </m:oMath>
                </a14:m>
                <a:r>
                  <a:rPr lang="ar-SA" sz="1600" dirty="0"/>
                  <a:t>= </a:t>
                </a:r>
                <a:r>
                  <a:rPr lang="en-US" sz="1600" dirty="0"/>
                  <a:t>EV SOC at plug-out time 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𝑆𝑂</m:t>
                    </m:r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𝐸𝑉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ar-SA" sz="1600" dirty="0"/>
                  <a:t>= </a:t>
                </a:r>
                <a:r>
                  <a:rPr lang="en-US" sz="1600" dirty="0"/>
                  <a:t>Minimum allowable EV SOC 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600" dirty="0"/>
                  <a:t>= Trip distance (miles)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𝐸𝑉</m:t>
                        </m:r>
                      </m:sub>
                    </m:sSub>
                  </m:oMath>
                </a14:m>
                <a:r>
                  <a:rPr lang="ar-SA" sz="1600" dirty="0"/>
                  <a:t>= </a:t>
                </a:r>
                <a:r>
                  <a:rPr lang="en-US" sz="1600" dirty="0"/>
                  <a:t>EV driving efficiency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𝐸𝑉</m:t>
                        </m:r>
                      </m:sub>
                    </m:sSub>
                  </m:oMath>
                </a14:m>
                <a:r>
                  <a:rPr lang="ar-SA" sz="1600" dirty="0"/>
                  <a:t>= </a:t>
                </a:r>
                <a:r>
                  <a:rPr lang="en-US" sz="1600" dirty="0"/>
                  <a:t>EV battery capacity (kWh) </a:t>
                </a:r>
              </a:p>
              <a:p>
                <a:pPr marL="0" indent="0">
                  <a:buNone/>
                </a:pPr>
                <a:r>
                  <a:rPr lang="en-US" sz="1600" dirty="0"/>
                  <a:t>This constraint prevents excessive battery depletion and preserves battery health.</a:t>
                </a:r>
              </a:p>
              <a:p>
                <a:pPr marL="0" indent="0">
                  <a:buNone/>
                </a:pPr>
                <a:endParaRPr lang="ar-SA" sz="1600" dirty="0"/>
              </a:p>
              <a:p>
                <a:pPr marL="0" indent="0">
                  <a:buNone/>
                </a:pPr>
                <a:endParaRPr lang="ar-SA" sz="1800" dirty="0"/>
              </a:p>
              <a:p>
                <a:pPr marL="0" indent="0">
                  <a:buNone/>
                </a:pPr>
                <a:endParaRPr lang="ar-SA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8347B-CA6F-A390-7009-9E1ACD8F9B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89E3F4-D008-B20A-520C-E532D9E90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930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B75D9-37EB-8DFA-1439-6AE7AC473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CD69-E0C8-BF56-8FBF-44EC9ACC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Modeling the Components</a:t>
            </a:r>
            <a:endParaRPr lang="en-PK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937A5-A215-6354-14C8-6ED27C891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EV Parameters</a:t>
            </a:r>
            <a:endParaRPr lang="en-US" sz="2000" b="1" dirty="0"/>
          </a:p>
          <a:p>
            <a:pPr marL="0" indent="0">
              <a:buNone/>
            </a:pPr>
            <a:endParaRPr lang="ar-SA" sz="1600" dirty="0"/>
          </a:p>
          <a:p>
            <a:pPr marL="0" indent="0">
              <a:buNone/>
            </a:pPr>
            <a:endParaRPr lang="ar-SA" sz="1800" dirty="0"/>
          </a:p>
          <a:p>
            <a:pPr marL="0" indent="0">
              <a:buNone/>
            </a:pPr>
            <a:endParaRPr lang="ar-SA" sz="2000" dirty="0"/>
          </a:p>
          <a:p>
            <a:pPr marL="0" indent="0">
              <a:lnSpc>
                <a:spcPct val="150000"/>
              </a:lnSpc>
              <a:buNone/>
            </a:pPr>
            <a:endParaRPr lang="en-US" sz="2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D8973F-C796-0FAD-FEBD-A4CFDBE4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A253204-D7B7-D49C-F19D-240DA7B67E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5778531"/>
                  </p:ext>
                </p:extLst>
              </p:nvPr>
            </p:nvGraphicFramePr>
            <p:xfrm>
              <a:off x="838200" y="2035334"/>
              <a:ext cx="10515600" cy="3715004"/>
            </p:xfrm>
            <a:graphic>
              <a:graphicData uri="http://schemas.openxmlformats.org/drawingml/2006/table">
                <a:tbl>
                  <a:tblPr/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420123833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975017767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58169894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Parameter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Value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Unit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422704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62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mi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54461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S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𝐸𝑉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6.2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km/kWh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07288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S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𝐸𝑉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63361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S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𝐸𝑉</m:t>
                                    </m:r>
                                    <m:r>
                                      <a:rPr lang="ar-SA" sz="18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latin typeface="Cambria Math" panose="02040503050406030204" pitchFamily="18" charset="0"/>
                                      </a:rPr>
                                      <m:t>ch</m:t>
                                    </m:r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3.3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880428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ar-SA" sz="1800" i="1" smtClean="0">
                                    <a:latin typeface="Cambria Math" panose="02040503050406030204" pitchFamily="18" charset="0"/>
                                  </a:rPr>
                                  <m:t>𝑆𝑂</m:t>
                                </m:r>
                                <m:sSub>
                                  <m:sSubPr>
                                    <m:ctrlP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𝐸𝑉</m:t>
                                    </m:r>
                                    <m:r>
                                      <a:rPr lang="ar-SA" sz="18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670868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ar-SA" sz="1800" i="1" smtClean="0">
                                    <a:latin typeface="Cambria Math" panose="02040503050406030204" pitchFamily="18" charset="0"/>
                                  </a:rPr>
                                  <m:t>𝑆𝑂</m:t>
                                </m:r>
                                <m:sSub>
                                  <m:sSubPr>
                                    <m:ctrlP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𝐸𝑉</m:t>
                                    </m:r>
                                    <m:r>
                                      <a:rPr lang="ar-SA" sz="18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204142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ar-SA" sz="1800" i="1" smtClean="0">
                                    <a:latin typeface="Cambria Math" panose="02040503050406030204" pitchFamily="18" charset="0"/>
                                  </a:rPr>
                                  <m:t>𝑆𝑂</m:t>
                                </m:r>
                                <m:sSub>
                                  <m:sSubPr>
                                    <m:ctrlP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ar-SA" sz="1800" i="1">
                                        <a:latin typeface="Cambria Math" panose="02040503050406030204" pitchFamily="18" charset="0"/>
                                      </a:rPr>
                                      <m:t>𝐸𝑉</m:t>
                                    </m:r>
                                    <m:r>
                                      <a:rPr lang="ar-SA" sz="18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𝑝𝑜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03357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Plug-in Time (Ti)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17:00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hour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39895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Plug-out Time (To)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07:00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hour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97788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A253204-D7B7-D49C-F19D-240DA7B67E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5778531"/>
                  </p:ext>
                </p:extLst>
              </p:nvPr>
            </p:nvGraphicFramePr>
            <p:xfrm>
              <a:off x="838200" y="2035334"/>
              <a:ext cx="10515600" cy="3715004"/>
            </p:xfrm>
            <a:graphic>
              <a:graphicData uri="http://schemas.openxmlformats.org/drawingml/2006/table">
                <a:tbl>
                  <a:tblPr/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420123833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975017767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58169894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Parameter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Value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Unit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42270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D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62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mi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544617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06667" r="-200174" b="-7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6.2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km/kWh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07288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301639" r="-200174" b="-6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kWh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633618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395161" r="-200174" b="-5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3.3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kW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5880428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495161" r="-200174" b="-4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6708683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595161" r="-200174" b="-3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20414257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673438" r="-200174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20335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Plug-in Time (Ti)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17:00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hour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398952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Plug-out Time (To)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07:00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hour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97788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19933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FB3F1-139E-84C9-4156-FE20F404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FD550-A763-28A0-AD8B-56007CA1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Modeling the Components</a:t>
            </a:r>
            <a:endParaRPr lang="en-PK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51B95-2ED0-506F-4DE5-E2E8B6B3C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en-US" sz="2400" b="1" dirty="0"/>
              <a:t>Non-Critical Load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These appliances are considered </a:t>
            </a:r>
            <a:r>
              <a:rPr lang="en-US" sz="2000" i="1" dirty="0"/>
              <a:t>non-critical</a:t>
            </a:r>
            <a:r>
              <a:rPr lang="en-US" sz="2000" dirty="0"/>
              <a:t> because their operation can be shifted within a permissible time window without affecting user comfort significantly.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optimizer schedules these loads during economically favorable hours to reduce overall operating cost and peak demand.</a:t>
            </a:r>
            <a:endParaRPr lang="ar-SA" sz="2000" dirty="0"/>
          </a:p>
          <a:p>
            <a:pPr marL="0" indent="0">
              <a:lnSpc>
                <a:spcPct val="150000"/>
              </a:lnSpc>
              <a:buNone/>
            </a:pPr>
            <a:endParaRPr lang="en-US" sz="2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B9007F-EE25-079A-59BC-118F47CD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ACFD4EE-1788-A3FC-8F23-30CBA404A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195818"/>
              </p:ext>
            </p:extLst>
          </p:nvPr>
        </p:nvGraphicFramePr>
        <p:xfrm>
          <a:off x="838200" y="2304574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790307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959284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386719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98076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Power Rating (kW)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Time Duration(Hours)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Flexible Operating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58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Electric Iron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18:00 – 23:00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189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Washing Machine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08:00 – 19:00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559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Water Pump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06:00 – 10:00`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328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152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93212-4F32-6A29-0637-319E21A8F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45CE-AF08-3CA4-BCCD-BCBAC364B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Modeling the Components</a:t>
            </a:r>
            <a:endParaRPr lang="en-PK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94DB8-C175-3DF4-B3D4-871A33F7C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Other Parameters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CE2C7E-71F1-879E-EA96-90A529AF2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7DFB5ED-3A35-E9FB-2B37-D51DF01CF1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7565090"/>
                  </p:ext>
                </p:extLst>
              </p:nvPr>
            </p:nvGraphicFramePr>
            <p:xfrm>
              <a:off x="785446" y="2098649"/>
              <a:ext cx="10128740" cy="4153073"/>
            </p:xfrm>
            <a:graphic>
              <a:graphicData uri="http://schemas.openxmlformats.org/drawingml/2006/table">
                <a:tbl>
                  <a:tblPr/>
                  <a:tblGrid>
                    <a:gridCol w="2532185">
                      <a:extLst>
                        <a:ext uri="{9D8B030D-6E8A-4147-A177-3AD203B41FA5}">
                          <a16:colId xmlns:a16="http://schemas.microsoft.com/office/drawing/2014/main" val="779270384"/>
                        </a:ext>
                      </a:extLst>
                    </a:gridCol>
                    <a:gridCol w="2532185">
                      <a:extLst>
                        <a:ext uri="{9D8B030D-6E8A-4147-A177-3AD203B41FA5}">
                          <a16:colId xmlns:a16="http://schemas.microsoft.com/office/drawing/2014/main" val="3857856530"/>
                        </a:ext>
                      </a:extLst>
                    </a:gridCol>
                    <a:gridCol w="2532185">
                      <a:extLst>
                        <a:ext uri="{9D8B030D-6E8A-4147-A177-3AD203B41FA5}">
                          <a16:colId xmlns:a16="http://schemas.microsoft.com/office/drawing/2014/main" val="3512408046"/>
                        </a:ext>
                      </a:extLst>
                    </a:gridCol>
                    <a:gridCol w="2532185">
                      <a:extLst>
                        <a:ext uri="{9D8B030D-6E8A-4147-A177-3AD203B41FA5}">
                          <a16:colId xmlns:a16="http://schemas.microsoft.com/office/drawing/2014/main" val="238762975"/>
                        </a:ext>
                      </a:extLst>
                    </a:gridCol>
                  </a:tblGrid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Parameter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Symbol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Value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Unit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8873183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Simulation Horizon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(n)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24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Hour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268326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Time Interval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(T)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1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Hour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57748220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Gas Price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SA" sz="1200" i="1">
                                      <a:latin typeface="Cambria Math" panose="02040503050406030204" pitchFamily="18" charset="0"/>
                                    </a:rPr>
                                    <m:t>𝑔𝑎𝑠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0.05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$/kWh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8481861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Utility Buying Price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SA" sz="1200" i="1">
                                      <a:latin typeface="Cambria Math" panose="02040503050406030204" pitchFamily="18" charset="0"/>
                                    </a:rPr>
                                    <m:t>𝑈𝑏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0.13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$/kWh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040327"/>
                      </a:ext>
                    </a:extLst>
                  </a:tr>
                  <a:tr h="3521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Utility Selling Price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SA" sz="1200" i="1">
                                      <a:latin typeface="Cambria Math" panose="02040503050406030204" pitchFamily="18" charset="0"/>
                                    </a:rPr>
                                    <m:t>𝑈𝑠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0.07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$/kWh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0548946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Peak TOU Multiplier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20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𝑝𝑒𝑎𝑘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1.00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—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0457572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Mid-Peak TOU Multiplier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𝑚𝑖𝑑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0.90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—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56650456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Off-Peak TOU Multiplier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𝑜𝑓𝑓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0.78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—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8031740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Solar PV Capacity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𝑃𝑉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1.3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kW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5923407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Wind Turbine Capacity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SA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/>
                            <a:t>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2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kW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07916505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Optimization Algorithm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—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GWO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—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80022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7DFB5ED-3A35-E9FB-2B37-D51DF01CF1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7565090"/>
                  </p:ext>
                </p:extLst>
              </p:nvPr>
            </p:nvGraphicFramePr>
            <p:xfrm>
              <a:off x="785446" y="2098649"/>
              <a:ext cx="10128740" cy="4153073"/>
            </p:xfrm>
            <a:graphic>
              <a:graphicData uri="http://schemas.openxmlformats.org/drawingml/2006/table">
                <a:tbl>
                  <a:tblPr/>
                  <a:tblGrid>
                    <a:gridCol w="2532185">
                      <a:extLst>
                        <a:ext uri="{9D8B030D-6E8A-4147-A177-3AD203B41FA5}">
                          <a16:colId xmlns:a16="http://schemas.microsoft.com/office/drawing/2014/main" val="779270384"/>
                        </a:ext>
                      </a:extLst>
                    </a:gridCol>
                    <a:gridCol w="2532185">
                      <a:extLst>
                        <a:ext uri="{9D8B030D-6E8A-4147-A177-3AD203B41FA5}">
                          <a16:colId xmlns:a16="http://schemas.microsoft.com/office/drawing/2014/main" val="3857856530"/>
                        </a:ext>
                      </a:extLst>
                    </a:gridCol>
                    <a:gridCol w="2532185">
                      <a:extLst>
                        <a:ext uri="{9D8B030D-6E8A-4147-A177-3AD203B41FA5}">
                          <a16:colId xmlns:a16="http://schemas.microsoft.com/office/drawing/2014/main" val="3512408046"/>
                        </a:ext>
                      </a:extLst>
                    </a:gridCol>
                    <a:gridCol w="2532185">
                      <a:extLst>
                        <a:ext uri="{9D8B030D-6E8A-4147-A177-3AD203B41FA5}">
                          <a16:colId xmlns:a16="http://schemas.microsoft.com/office/drawing/2014/main" val="238762975"/>
                        </a:ext>
                      </a:extLst>
                    </a:gridCol>
                  </a:tblGrid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Parameter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Symbol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Value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Unit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8873183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Simulation Horizon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(n)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24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Hour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268326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Time Interval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(T)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1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Hour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57748220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Gas Price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298246" r="-199760" b="-8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0.05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$/kWh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08481861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Utility Buying Price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398246" r="-199760" b="-7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0.13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$/kWh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040327"/>
                      </a:ext>
                    </a:extLst>
                  </a:tr>
                  <a:tr h="3521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Utility Selling Price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489655" r="-199760" b="-58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0.07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$/kWh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0548946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Peak TOU Multiplier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610714" r="-199760" b="-51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1.00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—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0457572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Mid-Peak TOU Multiplier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698246" r="-199760" b="-4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0.90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—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56650456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Off-Peak TOU Multiplier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798246" r="-199760" b="-3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0.78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—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8031740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Solar PV Capacity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898246" r="-199760" b="-2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1.3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kW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5923407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Wind Turbine Capacity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1016071" r="-199760" b="-10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2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kW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07916505"/>
                      </a:ext>
                    </a:extLst>
                  </a:tr>
                  <a:tr h="3455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Optimization Algorithm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—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GWO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—</a:t>
                          </a:r>
                        </a:p>
                      </a:txBody>
                      <a:tcPr marL="60435" marR="60435" marT="30218" marB="3021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80022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2455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7211-90E5-8733-B225-395D17B6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E7B9-8C3A-1BE7-A654-20C96380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Cost Function(Objective Function)</a:t>
            </a:r>
            <a:endParaRPr lang="en-PK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03EDFD-02BB-065A-4888-21A2E6A14F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600" dirty="0"/>
                  <a:t>The Objective Function for the Optimizer is:</a:t>
                </a:r>
              </a:p>
              <a:p>
                <a:pPr marL="0" indent="0" algn="ctr">
                  <a:buNone/>
                </a:pPr>
                <a:r>
                  <a:rPr lang="en-US" sz="2900" dirty="0"/>
                  <a:t>min∑​(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𝐹𝐶</m:t>
                        </m:r>
                        <m:r>
                          <a:rPr lang="ar-SA" sz="29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SA" sz="29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900" dirty="0"/>
                  <a:t>+</a:t>
                </a:r>
                <a:r>
                  <a:rPr lang="ar-SA" sz="2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𝐵𝐿</m:t>
                        </m:r>
                        <m:r>
                          <a:rPr lang="ar-SA" sz="29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SA" sz="29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900" dirty="0"/>
                  <a:t>​+</a:t>
                </a:r>
                <a:r>
                  <a:rPr lang="ar-SA" sz="2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ar-SA" sz="29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SA" sz="29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900" dirty="0"/>
                  <a:t>​+</a:t>
                </a:r>
                <a:r>
                  <a:rPr lang="ar-SA" sz="2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SA" sz="29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sz="29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SA" sz="29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900" dirty="0"/>
                  <a:t>​) </a:t>
                </a:r>
                <a:br>
                  <a:rPr lang="en-US" sz="2900" dirty="0"/>
                </a:br>
                <a:endParaRPr lang="en-US" sz="29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𝐹𝐶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SA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SA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𝑔𝑎𝑠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S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𝐹𝐶</m:t>
                                          </m:r>
                                          <m:r>
                                            <a:rPr lang="ar-SA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𝐹𝐶</m:t>
                                          </m:r>
                                          <m:r>
                                            <a:rPr lang="ar-SA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ar-SA" i="1"/>
                                <m:t>  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ar-SA" i="1"/>
                                <m:t>  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𝐹𝐶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𝑔𝑎𝑠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S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𝐹𝐶</m:t>
                                          </m:r>
                                          <m:r>
                                            <a:rPr lang="ar-SA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𝐹𝐶</m:t>
                                          </m:r>
                                          <m:r>
                                            <a:rPr lang="ar-SA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ar-SA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i="1"/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SA" sz="2400" b="0" dirty="0"/>
              </a:p>
              <a:p>
                <a:pPr marL="0" indent="0">
                  <a:buNone/>
                </a:pPr>
                <a:br>
                  <a:rPr lang="ar-SA" sz="2400" dirty="0"/>
                </a:br>
                <a:endParaRPr lang="ar-SA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𝐵𝐿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SA"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SA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ar-SA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𝐵𝐿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SA" sz="2400" dirty="0"/>
              </a:p>
              <a:p>
                <a:pPr marL="0" indent="0">
                  <a:buNone/>
                </a:pPr>
                <a:br>
                  <a:rPr lang="ar-SA" sz="2400" dirty="0"/>
                </a:br>
                <a:endParaRPr lang="ar-SA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SA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SA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𝑈𝑏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𝑈𝑠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SA" sz="2400" dirty="0"/>
              </a:p>
              <a:p>
                <a:pPr marL="0" indent="0">
                  <a:buNone/>
                </a:pPr>
                <a:br>
                  <a:rPr lang="ar-SA" sz="2400" dirty="0"/>
                </a:br>
                <a:endParaRPr lang="ar-SA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SA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SA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SA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𝐵𝑂𝑀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𝐵𝑂𝑀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SA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03EDFD-02BB-065A-4888-21A2E6A14F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C6B854-3321-2CBC-9870-43552D9C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774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8F874-B94F-B2B1-BDE1-74CF548D7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27A5-CD6E-EAA8-23BA-C90AE29B5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Grey Wolf Algorithm</a:t>
            </a:r>
            <a:endParaRPr lang="en-PK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DCCD9-70DF-B05B-497C-CD5FD3E7A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91" y="1381539"/>
            <a:ext cx="11539331" cy="497481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Inspiration from Nature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The Grey Wolf Optimizer (GWO) is a </a:t>
            </a:r>
            <a:r>
              <a:rPr lang="en-US" sz="2000" b="1" dirty="0"/>
              <a:t>metaheuristic optimization algorithm</a:t>
            </a:r>
            <a:r>
              <a:rPr lang="en-US" sz="2000" dirty="0"/>
              <a:t> inspired by the hunting behavior and leadership hierarchy of grey wolves.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Hierarchy of Wolves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Alpha (</a:t>
            </a:r>
            <a:r>
              <a:rPr lang="el-GR" sz="2000" b="1" dirty="0"/>
              <a:t>α)</a:t>
            </a:r>
            <a:r>
              <a:rPr lang="el-GR" sz="2000" dirty="0"/>
              <a:t> → </a:t>
            </a:r>
            <a:r>
              <a:rPr lang="en-US" sz="2000" dirty="0"/>
              <a:t>Best solution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Beta (</a:t>
            </a:r>
            <a:r>
              <a:rPr lang="el-GR" sz="2000" b="1" dirty="0"/>
              <a:t>β)</a:t>
            </a:r>
            <a:r>
              <a:rPr lang="el-GR" sz="2000" dirty="0"/>
              <a:t> → </a:t>
            </a:r>
            <a:r>
              <a:rPr lang="en-US" sz="2000" dirty="0"/>
              <a:t>Second best solution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Delta (</a:t>
            </a:r>
            <a:r>
              <a:rPr lang="el-GR" sz="2000" b="1" dirty="0"/>
              <a:t>δ)</a:t>
            </a:r>
            <a:r>
              <a:rPr lang="el-GR" sz="2000" dirty="0"/>
              <a:t> → </a:t>
            </a:r>
            <a:r>
              <a:rPr lang="en-US" sz="2000" dirty="0"/>
              <a:t>Third best solution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Omega (</a:t>
            </a:r>
            <a:r>
              <a:rPr lang="el-GR" sz="2000" b="1" dirty="0"/>
              <a:t>ω)</a:t>
            </a:r>
            <a:r>
              <a:rPr lang="el-GR" sz="2000" dirty="0"/>
              <a:t> → </a:t>
            </a:r>
            <a:r>
              <a:rPr lang="en-US" sz="2000" dirty="0"/>
              <a:t>Remaining search agents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The wolves cooperate and follow the top three leaders to search for the global optimum solution.</a:t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91BB84-47D8-6859-1C1C-469A95AB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374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FD0D-AC3C-2DB2-534E-ABD67D269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58FD-A540-C549-1CE1-8311E82DF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Grey Wolf Algorithm</a:t>
            </a:r>
            <a:endParaRPr lang="en-PK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45D258-2B68-D203-6A21-72AAA3541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991" y="1381539"/>
                <a:ext cx="11539331" cy="497481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Encircling the Prey</a:t>
                </a:r>
              </a:p>
              <a:p>
                <a:pPr marL="0" indent="0">
                  <a:buNone/>
                </a:pPr>
                <a:r>
                  <a:rPr lang="en-US" dirty="0"/>
                  <a:t>The wolves update their positions around the prey (optimal solution) using: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SA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d>
                        <m:d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S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d>
                        <m:d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SA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ar-SA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S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SA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SA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acc>
                  </m:oMath>
                </a14:m>
                <a:r>
                  <a:rPr lang="ar-SA" dirty="0"/>
                  <a:t>= </a:t>
                </a:r>
                <a:r>
                  <a:rPr lang="en-US" dirty="0"/>
                  <a:t> best solution so far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ar-SA" dirty="0"/>
                  <a:t>= </a:t>
                </a:r>
                <a:r>
                  <a:rPr lang="en-US" dirty="0"/>
                  <a:t>current wolf position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ar-SA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ar-SA" dirty="0"/>
                  <a:t>= </a:t>
                </a:r>
                <a:r>
                  <a:rPr lang="en-US" dirty="0"/>
                  <a:t>coefficient sets ;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SA"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>
                        <a:latin typeface="Cambria Math" panose="02040503050406030204" pitchFamily="18" charset="0"/>
                      </a:rPr>
                      <m:t>2</m:t>
                    </m:r>
                    <m:r>
                      <a:rPr lang="ar-SA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ar-SA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SA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SA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SA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ar-SA"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SA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ar-SA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ar-SA">
                        <a:latin typeface="Cambria Math" panose="02040503050406030204" pitchFamily="18" charset="0"/>
                      </a:rPr>
                      <m:t>=</m:t>
                    </m:r>
                    <m:r>
                      <a:rPr lang="ar-SA">
                        <a:latin typeface="Cambria Math" panose="02040503050406030204" pitchFamily="18" charset="0"/>
                      </a:rPr>
                      <m:t>2</m:t>
                    </m:r>
                    <m:r>
                      <a:rPr lang="ar-SA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SA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SA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ar-SA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SA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SA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SA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SA" dirty="0"/>
                  <a:t>= </a:t>
                </a:r>
                <a:r>
                  <a:rPr lang="en-US" dirty="0"/>
                  <a:t>random numbers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SA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SA" dirty="0"/>
              </a:p>
              <a:p>
                <a14:m>
                  <m:oMath xmlns:m="http://schemas.openxmlformats.org/officeDocument/2006/math">
                    <m:r>
                      <a:rPr lang="ar-SA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ar-SA" dirty="0"/>
                  <a:t>= </a:t>
                </a:r>
                <a:r>
                  <a:rPr lang="en-US" dirty="0"/>
                  <a:t>current iteration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= maximum iterations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45D258-2B68-D203-6A21-72AAA3541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991" y="1381539"/>
                <a:ext cx="11539331" cy="4974811"/>
              </a:xfrm>
              <a:blipFill>
                <a:blip r:embed="rId2"/>
                <a:stretch>
                  <a:fillRect l="-845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5404CC-C1E4-DCD1-E22D-12716445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064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0C6C7-38BD-F8D4-4BC3-B42685F6D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C4FDC-F7BC-607C-6003-4F293967C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Grey Wolf Algorithm</a:t>
            </a:r>
            <a:endParaRPr lang="en-PK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5EFEC6-1136-2F68-E33A-7A828F5682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991" y="1381539"/>
                <a:ext cx="11539331" cy="497481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Position Update Using </a:t>
                </a:r>
                <a:r>
                  <a:rPr lang="el-GR" b="1" dirty="0"/>
                  <a:t>α, β, </a:t>
                </a:r>
                <a:r>
                  <a:rPr lang="en-US" b="1" dirty="0"/>
                  <a:t>and </a:t>
                </a:r>
                <a:r>
                  <a:rPr lang="el-GR" b="1" dirty="0"/>
                  <a:t>δ </a:t>
                </a:r>
                <a:r>
                  <a:rPr lang="en-US" b="1" dirty="0"/>
                  <a:t>Wolves</a:t>
                </a:r>
              </a:p>
              <a:p>
                <a:pPr marL="0" indent="0">
                  <a:buNone/>
                </a:pPr>
                <a:r>
                  <a:rPr lang="en-US" sz="2400" dirty="0"/>
                  <a:t>Each search agent updates its position according to the three best wolves: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SA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SA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ar-SA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SA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ar-SA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SA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ar-SA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SA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ar-SA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SA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ar-SA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SA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</m:e>
                      </m:acc>
                      <m:r>
                        <a:rPr lang="ar-SA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ar-SA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ar-SA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ar-SA" sz="3600" dirty="0"/>
              </a:p>
              <a:p>
                <a:pPr marL="0" indent="0">
                  <a:buNone/>
                </a:pPr>
                <a:r>
                  <a:rPr lang="en-US" sz="2400" dirty="0"/>
                  <a:t>Final updated position: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d>
                        <m:d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SA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ar-SA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ar-SA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ar-SA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ar-S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SA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ar-SA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r>
                            <a:rPr lang="ar-SA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ar-SA" sz="3600" dirty="0"/>
              </a:p>
              <a:p>
                <a:endParaRPr lang="en-US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5EFEC6-1136-2F68-E33A-7A828F5682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991" y="1381539"/>
                <a:ext cx="11539331" cy="4974811"/>
              </a:xfrm>
              <a:blipFill>
                <a:blip r:embed="rId2"/>
                <a:stretch>
                  <a:fillRect l="-951" t="-2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A86FC2-5E68-BA6D-3134-CA52EAF3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066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85DD-CBCF-76E6-4BD5-4D224B19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62D23-710D-5634-8A45-D2E3B28A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pPr/>
              <a:t>22</a:t>
            </a:fld>
            <a:endParaRPr lang="en-PK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5838A2C0-7126-DD32-AF2E-57AB4F3891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9295613"/>
              </p:ext>
            </p:extLst>
          </p:nvPr>
        </p:nvGraphicFramePr>
        <p:xfrm>
          <a:off x="839787" y="1621790"/>
          <a:ext cx="10426088" cy="3657600"/>
        </p:xfrm>
        <a:graphic>
          <a:graphicData uri="http://schemas.openxmlformats.org/drawingml/2006/table">
            <a:tbl>
              <a:tblPr/>
              <a:tblGrid>
                <a:gridCol w="1303261">
                  <a:extLst>
                    <a:ext uri="{9D8B030D-6E8A-4147-A177-3AD203B41FA5}">
                      <a16:colId xmlns:a16="http://schemas.microsoft.com/office/drawing/2014/main" val="335871171"/>
                    </a:ext>
                  </a:extLst>
                </a:gridCol>
                <a:gridCol w="1303261">
                  <a:extLst>
                    <a:ext uri="{9D8B030D-6E8A-4147-A177-3AD203B41FA5}">
                      <a16:colId xmlns:a16="http://schemas.microsoft.com/office/drawing/2014/main" val="745792047"/>
                    </a:ext>
                  </a:extLst>
                </a:gridCol>
                <a:gridCol w="1303261">
                  <a:extLst>
                    <a:ext uri="{9D8B030D-6E8A-4147-A177-3AD203B41FA5}">
                      <a16:colId xmlns:a16="http://schemas.microsoft.com/office/drawing/2014/main" val="2397892903"/>
                    </a:ext>
                  </a:extLst>
                </a:gridCol>
                <a:gridCol w="1303261">
                  <a:extLst>
                    <a:ext uri="{9D8B030D-6E8A-4147-A177-3AD203B41FA5}">
                      <a16:colId xmlns:a16="http://schemas.microsoft.com/office/drawing/2014/main" val="246890412"/>
                    </a:ext>
                  </a:extLst>
                </a:gridCol>
                <a:gridCol w="1303261">
                  <a:extLst>
                    <a:ext uri="{9D8B030D-6E8A-4147-A177-3AD203B41FA5}">
                      <a16:colId xmlns:a16="http://schemas.microsoft.com/office/drawing/2014/main" val="1537897863"/>
                    </a:ext>
                  </a:extLst>
                </a:gridCol>
                <a:gridCol w="1303261">
                  <a:extLst>
                    <a:ext uri="{9D8B030D-6E8A-4147-A177-3AD203B41FA5}">
                      <a16:colId xmlns:a16="http://schemas.microsoft.com/office/drawing/2014/main" val="709511428"/>
                    </a:ext>
                  </a:extLst>
                </a:gridCol>
                <a:gridCol w="1303261">
                  <a:extLst>
                    <a:ext uri="{9D8B030D-6E8A-4147-A177-3AD203B41FA5}">
                      <a16:colId xmlns:a16="http://schemas.microsoft.com/office/drawing/2014/main" val="3196430350"/>
                    </a:ext>
                  </a:extLst>
                </a:gridCol>
                <a:gridCol w="1303261">
                  <a:extLst>
                    <a:ext uri="{9D8B030D-6E8A-4147-A177-3AD203B41FA5}">
                      <a16:colId xmlns:a16="http://schemas.microsoft.com/office/drawing/2014/main" val="1362621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Non-Critical Load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Net Metering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EV Scheduling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189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649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737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711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Case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63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Case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28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Case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238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Case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321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Case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05315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5C17A83-402C-1D7B-DF57-6115B7962C0B}"/>
              </a:ext>
            </a:extLst>
          </p:cNvPr>
          <p:cNvSpPr txBox="1"/>
          <p:nvPr/>
        </p:nvSpPr>
        <p:spPr>
          <a:xfrm>
            <a:off x="984738" y="5931877"/>
            <a:ext cx="251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 Cost Case I = 6.41$</a:t>
            </a:r>
          </a:p>
        </p:txBody>
      </p:sp>
    </p:spTree>
    <p:extLst>
      <p:ext uri="{BB962C8B-B14F-4D97-AF65-F5344CB8AC3E}">
        <p14:creationId xmlns:p14="http://schemas.microsoft.com/office/powerpoint/2010/main" val="864448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DAD81-22F4-C2DD-368E-AB75AE0F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42DC-73A8-CF97-8DA7-2F3416EDE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 2(Renewables Added)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AEC22-88CF-43F4-1E02-DFA37523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782276-D189-3FF7-B797-C711E5D6F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125"/>
            <a:ext cx="12191999" cy="48704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38A893-19FF-BFE3-9009-19382935AC0D}"/>
              </a:ext>
            </a:extLst>
          </p:cNvPr>
          <p:cNvSpPr txBox="1"/>
          <p:nvPr/>
        </p:nvSpPr>
        <p:spPr>
          <a:xfrm>
            <a:off x="492370" y="6307012"/>
            <a:ext cx="1840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 Cost = 3.16$</a:t>
            </a:r>
          </a:p>
        </p:txBody>
      </p:sp>
    </p:spTree>
    <p:extLst>
      <p:ext uri="{BB962C8B-B14F-4D97-AF65-F5344CB8AC3E}">
        <p14:creationId xmlns:p14="http://schemas.microsoft.com/office/powerpoint/2010/main" val="1767761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1A33-9F8C-1525-8A8A-3295D870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0CE6-18E9-0C68-FC72-7A7132ED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 3(BESS Added)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3B1B3-F6C3-989D-8B5A-4F0DDD60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438166-5B41-D8AE-4BF7-7E6DF64BD1D3}"/>
              </a:ext>
            </a:extLst>
          </p:cNvPr>
          <p:cNvSpPr txBox="1"/>
          <p:nvPr/>
        </p:nvSpPr>
        <p:spPr>
          <a:xfrm>
            <a:off x="480185" y="6358511"/>
            <a:ext cx="1840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Net Cost = 2.85$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ADB5AA0-62B1-4253-D5BB-30F8B0EF1C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81125"/>
            <a:ext cx="12192000" cy="48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02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4B819-DD19-3855-60E9-6F287AEB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7B2EB-CF7A-7EF3-59EE-97F78D95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 4(FC Added)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3C305-A544-F3EB-EADC-DFA7013E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DD1E0-D7DF-3E38-F44E-CB71E5780B5D}"/>
              </a:ext>
            </a:extLst>
          </p:cNvPr>
          <p:cNvSpPr txBox="1"/>
          <p:nvPr/>
        </p:nvSpPr>
        <p:spPr>
          <a:xfrm>
            <a:off x="456739" y="6393680"/>
            <a:ext cx="1840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Net Cost = 2.81$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4D030DE-F7C0-AC3B-5EF9-99BDC9BAD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125"/>
            <a:ext cx="12191999" cy="48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24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5A860-11A1-8D0D-C014-FB284068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0B90-0CA2-A2C1-3A10-CE1C5526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 5(Non-Critical Load Added)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70E78-CE8C-B282-C115-0F9BDCF5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33711-B633-AEE8-5AC0-9E1415E53D5F}"/>
              </a:ext>
            </a:extLst>
          </p:cNvPr>
          <p:cNvSpPr txBox="1"/>
          <p:nvPr/>
        </p:nvSpPr>
        <p:spPr>
          <a:xfrm>
            <a:off x="456739" y="6393680"/>
            <a:ext cx="1840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Net Cost = 3.14$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BA8F9E-31A1-5AE3-FC92-F835EE9FC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125"/>
            <a:ext cx="12191999" cy="48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77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B733-FE98-E3D8-04A5-CB36285AD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7427-8C0D-0A0F-33D4-0298D111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 6(Net Metering Allowed)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51E58-4C26-5933-46BD-0C322090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A63CE-1A81-FD29-BC71-ACA5F825A527}"/>
              </a:ext>
            </a:extLst>
          </p:cNvPr>
          <p:cNvSpPr txBox="1"/>
          <p:nvPr/>
        </p:nvSpPr>
        <p:spPr>
          <a:xfrm>
            <a:off x="456739" y="6393680"/>
            <a:ext cx="1840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Net Cost = 3.01$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13966A2-B5E1-A771-4BAC-5EC4AE518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1125"/>
            <a:ext cx="12191999" cy="48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39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2DE59-F223-4640-E5E3-4097EDFF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69CD9-1114-8970-ACCA-A0B56989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 7(EV Added Non-Schedulable)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7D55A-B826-C9E9-C697-2D404A4A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3A9AD-F51B-EB62-0392-BA7129D83EA2}"/>
              </a:ext>
            </a:extLst>
          </p:cNvPr>
          <p:cNvSpPr txBox="1"/>
          <p:nvPr/>
        </p:nvSpPr>
        <p:spPr>
          <a:xfrm>
            <a:off x="456739" y="6393680"/>
            <a:ext cx="1840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Net Cost = 5.01$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A21C706-AF82-FDCA-6A9A-E748200D4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677" y="1381125"/>
            <a:ext cx="9139158" cy="48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00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2091-7702-D46C-6660-A6186CE36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62BB5-F1AD-8F82-2081-FFCB5078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 8(EV added Schedulable)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B8980-37F1-4CB7-DC3F-F02C1AE3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2729-7821-7104-999F-D0C4084486F7}"/>
              </a:ext>
            </a:extLst>
          </p:cNvPr>
          <p:cNvSpPr txBox="1"/>
          <p:nvPr/>
        </p:nvSpPr>
        <p:spPr>
          <a:xfrm>
            <a:off x="456739" y="6393680"/>
            <a:ext cx="1840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Net Cost = 4.42$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AB6E3FA-11ED-3DD0-60E4-29FB34107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69" y="1381125"/>
            <a:ext cx="10671824" cy="48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73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4560-E7CC-B38A-AC3E-9E022BA95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18BD8-4078-3AAA-AA1A-A15A9EE3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GWO Convergence (Case VIII)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E9CD5-1D70-5068-BC28-AB59FD33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77B4C4-4C53-4EC5-8363-1D4AC327A94D}" type="slidenum">
              <a:rPr kumimoji="0" lang="en-PK" sz="1400" b="1" i="0" u="none" strike="noStrike" kern="1200" cap="none" spc="0" normalizeH="0" baseline="0" noProof="0" smtClean="0">
                <a:ln>
                  <a:noFill/>
                </a:ln>
                <a:solidFill>
                  <a:srgbClr val="F86E0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PK" sz="1400" b="1" i="0" u="none" strike="noStrike" kern="1200" cap="none" spc="0" normalizeH="0" baseline="0" noProof="0" dirty="0">
              <a:ln>
                <a:noFill/>
              </a:ln>
              <a:solidFill>
                <a:srgbClr val="F86E0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9A7798-B7FA-0784-9938-54DC6B4F36D3}"/>
              </a:ext>
            </a:extLst>
          </p:cNvPr>
          <p:cNvSpPr txBox="1"/>
          <p:nvPr/>
        </p:nvSpPr>
        <p:spPr>
          <a:xfrm>
            <a:off x="456739" y="6393680"/>
            <a:ext cx="946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Net Cost = 4.42$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		Wolves = 500                         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C44D50-82C0-EB47-8DAD-93AD502E0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508" y="1922585"/>
            <a:ext cx="8944707" cy="33463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2C98A2-3D88-E2E3-803A-67362BA81B6B}"/>
              </a:ext>
            </a:extLst>
          </p:cNvPr>
          <p:cNvSpPr txBox="1"/>
          <p:nvPr/>
        </p:nvSpPr>
        <p:spPr>
          <a:xfrm>
            <a:off x="2121877" y="1922586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3F35C7-5A13-4340-13BC-67770648222C}"/>
              </a:ext>
            </a:extLst>
          </p:cNvPr>
          <p:cNvSpPr txBox="1"/>
          <p:nvPr/>
        </p:nvSpPr>
        <p:spPr>
          <a:xfrm>
            <a:off x="2121878" y="2450122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DBE90B-BF0B-EEF7-FDF4-D27356367873}"/>
              </a:ext>
            </a:extLst>
          </p:cNvPr>
          <p:cNvSpPr txBox="1"/>
          <p:nvPr/>
        </p:nvSpPr>
        <p:spPr>
          <a:xfrm>
            <a:off x="2121878" y="2989387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C866CE-4830-5933-A3D2-CDB73A888E07}"/>
              </a:ext>
            </a:extLst>
          </p:cNvPr>
          <p:cNvSpPr txBox="1"/>
          <p:nvPr/>
        </p:nvSpPr>
        <p:spPr>
          <a:xfrm>
            <a:off x="2121877" y="3516922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8E58A2-BE61-B038-F643-7A1BA03EF356}"/>
              </a:ext>
            </a:extLst>
          </p:cNvPr>
          <p:cNvSpPr txBox="1"/>
          <p:nvPr/>
        </p:nvSpPr>
        <p:spPr>
          <a:xfrm>
            <a:off x="2121877" y="4044461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487E02-942A-469F-7462-35256D56D9E4}"/>
              </a:ext>
            </a:extLst>
          </p:cNvPr>
          <p:cNvSpPr txBox="1"/>
          <p:nvPr/>
        </p:nvSpPr>
        <p:spPr>
          <a:xfrm>
            <a:off x="2121877" y="4572001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04594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EF6D3-768F-81E9-C8A2-896CA16A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B4C4-4C53-4EC5-8363-1D4AC327A94D}" type="slidenum">
              <a:rPr lang="en-PK" smtClean="0"/>
              <a:t>31</a:t>
            </a:fld>
            <a:endParaRPr lang="en-PK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8F7E6B-6D38-3E61-E4BD-08BB0DDC5908}"/>
              </a:ext>
            </a:extLst>
          </p:cNvPr>
          <p:cNvSpPr txBox="1">
            <a:spLocks/>
          </p:cNvSpPr>
          <p:nvPr/>
        </p:nvSpPr>
        <p:spPr>
          <a:xfrm>
            <a:off x="445478" y="1230923"/>
            <a:ext cx="11251096" cy="307620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The End…</a:t>
            </a:r>
            <a:endParaRPr lang="en-PK" sz="4800" dirty="0"/>
          </a:p>
        </p:txBody>
      </p:sp>
    </p:spTree>
    <p:extLst>
      <p:ext uri="{BB962C8B-B14F-4D97-AF65-F5344CB8AC3E}">
        <p14:creationId xmlns:p14="http://schemas.microsoft.com/office/powerpoint/2010/main" val="35043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11324</TotalTime>
  <Words>1496</Words>
  <Application>Microsoft Office PowerPoint</Application>
  <PresentationFormat>Widescreen</PresentationFormat>
  <Paragraphs>428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Office Theme</vt:lpstr>
      <vt:lpstr>AI Based Demand Side Management in Smart Home Environment  Final Year Project-EEe499</vt:lpstr>
      <vt:lpstr>Contents</vt:lpstr>
      <vt:lpstr>Introduction</vt:lpstr>
      <vt:lpstr>Literature Review</vt:lpstr>
      <vt:lpstr>Workflow</vt:lpstr>
      <vt:lpstr>Components Overview</vt:lpstr>
      <vt:lpstr>Electrical and Thermal Loads</vt:lpstr>
      <vt:lpstr>Renewables Generation</vt:lpstr>
      <vt:lpstr>Modeling the Components</vt:lpstr>
      <vt:lpstr>Modeling the Components</vt:lpstr>
      <vt:lpstr>Modeling the Components</vt:lpstr>
      <vt:lpstr>Modeling the Components</vt:lpstr>
      <vt:lpstr>Modeling the Components</vt:lpstr>
      <vt:lpstr>Modeling the Components</vt:lpstr>
      <vt:lpstr>Modeling the Components</vt:lpstr>
      <vt:lpstr>Modeling the Components</vt:lpstr>
      <vt:lpstr>Modeling the Components</vt:lpstr>
      <vt:lpstr>Cost Function(Objective Function)</vt:lpstr>
      <vt:lpstr>Grey Wolf Algorithm</vt:lpstr>
      <vt:lpstr>Grey Wolf Algorithm</vt:lpstr>
      <vt:lpstr>Grey Wolf Algorithm</vt:lpstr>
      <vt:lpstr>Test Cases</vt:lpstr>
      <vt:lpstr>Test Case 2(Renewables Added)</vt:lpstr>
      <vt:lpstr>Test Case 3(BESS Added)</vt:lpstr>
      <vt:lpstr>Test Case 4(FC Added)</vt:lpstr>
      <vt:lpstr>Test Case 5(Non-Critical Load Added)</vt:lpstr>
      <vt:lpstr>Test Case 6(Net Metering Allowed)</vt:lpstr>
      <vt:lpstr>Test Case 7(EV Added Non-Schedulable)</vt:lpstr>
      <vt:lpstr>Test Case 8(EV added Schedulable)</vt:lpstr>
      <vt:lpstr>GWO Convergence (Case VIII)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 SAEED UZ ZAMAN</dc:creator>
  <cp:lastModifiedBy>�Abdullah Faisal</cp:lastModifiedBy>
  <cp:revision>36</cp:revision>
  <dcterms:created xsi:type="dcterms:W3CDTF">2024-08-08T07:29:07Z</dcterms:created>
  <dcterms:modified xsi:type="dcterms:W3CDTF">2026-06-21T19:30:47Z</dcterms:modified>
</cp:coreProperties>
</file>